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片头" id="{94e86cb7-b354-e5e2-c0a5-0ef6bf84880e}">
          <p14:sldIdLst>
            <p14:sldId id="256"/>
          </p14:sldIdLst>
        </p14:section>
        <p14:section name="需求" id="{3cc884e6-ee87-70ea-62b7-8449e5cd65ed}">
          <p14:sldIdLst>
            <p14:sldId id="257"/>
            <p14:sldId id="258"/>
            <p14:sldId id="259"/>
          </p14:sldIdLst>
        </p14:section>
        <p14:section name="识别" id="{1a8d6f9a-72c5-d4da-5d5a-df239852a5a5}">
          <p14:sldIdLst>
            <p14:sldId id="260"/>
            <p14:sldId id="261"/>
            <p14:sldId id="262"/>
            <p14:sldId id="263"/>
          </p14:sldIdLst>
        </p14:section>
        <p14:section name="面向学生" id="{1898fe0a-e8ec-d6ce-1d80-7f875018abab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断电" id="{545018d2-019f-b3f8-f0f0-454ed2fec30b}">
          <p14:sldIdLst>
            <p14:sldId id="271"/>
            <p14:sldId id="272"/>
            <p14:sldId id="273"/>
          </p14:sldIdLst>
        </p14:section>
        <p14:section name="总后台" id="{e8e279b4-6505-a4c2-8409-fbf6ba257970}">
          <p14:sldIdLst>
            <p14:sldId id="274"/>
            <p14:sldId id="275"/>
            <p14:sldId id="276"/>
          </p14:sldIdLst>
        </p14:section>
        <p14:section name="验证" id="{6fe8ca8e-af81-b61d-2168-6975fe8b6246}">
          <p14:sldIdLst>
            <p14:sldId id="277"/>
            <p14:sldId id="278"/>
          </p14:sldIdLst>
        </p14:section>
        <p14:section name="结尾" id="{f6f81794-fc58-9ae8-5434-299c9252893c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E557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E5577"/>
                </a:solidFill>
                <a:latin typeface="+mn-lt"/>
              </a:rPr>
              <a:t>验证集指标随轮次变化（横轴：轮次）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mAP@0.5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Sheet1!$A$2:$A$81</c:f>
              <c:multiLvlStrCache>
                <c:ptCount val="8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54</c:v>
                  </c:pt>
                  <c:pt idx="54">
                    <c:v>55</c:v>
                  </c:pt>
                  <c:pt idx="55">
                    <c:v>56</c:v>
                  </c:pt>
                  <c:pt idx="56">
                    <c:v>57</c:v>
                  </c:pt>
                  <c:pt idx="57">
                    <c:v>58</c:v>
                  </c:pt>
                  <c:pt idx="58">
                    <c:v>59</c:v>
                  </c:pt>
                  <c:pt idx="59">
                    <c:v>60</c:v>
                  </c:pt>
                  <c:pt idx="60">
                    <c:v>61</c:v>
                  </c:pt>
                  <c:pt idx="61">
                    <c:v>62</c:v>
                  </c:pt>
                  <c:pt idx="62">
                    <c:v>63</c:v>
                  </c:pt>
                  <c:pt idx="63">
                    <c:v>64</c:v>
                  </c:pt>
                  <c:pt idx="64">
                    <c:v>65</c:v>
                  </c:pt>
                  <c:pt idx="65">
                    <c:v>66</c:v>
                  </c:pt>
                  <c:pt idx="66">
                    <c:v>67</c:v>
                  </c:pt>
                  <c:pt idx="67">
                    <c:v>68</c:v>
                  </c:pt>
                  <c:pt idx="68">
                    <c:v>69</c:v>
                  </c:pt>
                  <c:pt idx="69">
                    <c:v>70</c:v>
                  </c:pt>
                  <c:pt idx="70">
                    <c:v>71</c:v>
                  </c:pt>
                  <c:pt idx="71">
                    <c:v>72</c:v>
                  </c:pt>
                  <c:pt idx="72">
                    <c:v>73</c:v>
                  </c:pt>
                  <c:pt idx="73">
                    <c:v>74</c:v>
                  </c:pt>
                  <c:pt idx="74">
                    <c:v>75</c:v>
                  </c:pt>
                  <c:pt idx="75">
                    <c:v>76</c:v>
                  </c:pt>
                  <c:pt idx="76">
                    <c:v>77</c:v>
                  </c:pt>
                  <c:pt idx="77">
                    <c:v>78</c:v>
                  </c:pt>
                  <c:pt idx="78">
                    <c:v>79</c:v>
                  </c:pt>
                  <c:pt idx="79">
                    <c:v>80</c:v>
                  </c:pt>
                </c:lvl>
              </c:multiLvlStrCache>
            </c:multiLvlStrRef>
          </c:cat>
          <c:val>
            <c:numRef>
              <c:f>Sheet1!$B$2:$B$81</c:f>
              <c:numCache>
                <c:formatCode>General</c:formatCode>
                <c:ptCount val="80"/>
                <c:pt idx="0">
                  <c:v>0.5862</c:v>
                </c:pt>
                <c:pt idx="1">
                  <c:v>0.6653</c:v>
                </c:pt>
                <c:pt idx="2">
                  <c:v>0.6929</c:v>
                </c:pt>
                <c:pt idx="3">
                  <c:v>0.7099</c:v>
                </c:pt>
                <c:pt idx="4">
                  <c:v>0.7284</c:v>
                </c:pt>
                <c:pt idx="5">
                  <c:v>0.7401</c:v>
                </c:pt>
                <c:pt idx="6">
                  <c:v>0.7523</c:v>
                </c:pt>
                <c:pt idx="7">
                  <c:v>0.7606</c:v>
                </c:pt>
                <c:pt idx="8">
                  <c:v>0.7773</c:v>
                </c:pt>
                <c:pt idx="9">
                  <c:v>0.7581</c:v>
                </c:pt>
                <c:pt idx="10">
                  <c:v>0.7848</c:v>
                </c:pt>
                <c:pt idx="11">
                  <c:v>0.7875</c:v>
                </c:pt>
                <c:pt idx="12">
                  <c:v>0.7903</c:v>
                </c:pt>
                <c:pt idx="13">
                  <c:v>0.7915</c:v>
                </c:pt>
                <c:pt idx="14">
                  <c:v>0.8017</c:v>
                </c:pt>
                <c:pt idx="15">
                  <c:v>0.8099</c:v>
                </c:pt>
                <c:pt idx="16">
                  <c:v>0.8093</c:v>
                </c:pt>
                <c:pt idx="17">
                  <c:v>0.8133</c:v>
                </c:pt>
                <c:pt idx="18">
                  <c:v>0.822</c:v>
                </c:pt>
                <c:pt idx="19">
                  <c:v>0.8213</c:v>
                </c:pt>
                <c:pt idx="20">
                  <c:v>0.8289</c:v>
                </c:pt>
                <c:pt idx="21">
                  <c:v>0.8278</c:v>
                </c:pt>
                <c:pt idx="22">
                  <c:v>0.8324</c:v>
                </c:pt>
                <c:pt idx="23">
                  <c:v>0.8325</c:v>
                </c:pt>
                <c:pt idx="24">
                  <c:v>0.8403</c:v>
                </c:pt>
                <c:pt idx="25">
                  <c:v>0.8378</c:v>
                </c:pt>
                <c:pt idx="26">
                  <c:v>0.8373</c:v>
                </c:pt>
                <c:pt idx="27">
                  <c:v>0.8413</c:v>
                </c:pt>
                <c:pt idx="28">
                  <c:v>0.8465</c:v>
                </c:pt>
                <c:pt idx="29">
                  <c:v>0.8459</c:v>
                </c:pt>
                <c:pt idx="30">
                  <c:v>0.8475</c:v>
                </c:pt>
                <c:pt idx="31">
                  <c:v>0.8505</c:v>
                </c:pt>
                <c:pt idx="32">
                  <c:v>0.8482</c:v>
                </c:pt>
                <c:pt idx="33">
                  <c:v>0.8521</c:v>
                </c:pt>
                <c:pt idx="34">
                  <c:v>0.8562</c:v>
                </c:pt>
                <c:pt idx="35">
                  <c:v>0.8587</c:v>
                </c:pt>
                <c:pt idx="36">
                  <c:v>0.8584</c:v>
                </c:pt>
                <c:pt idx="37">
                  <c:v>0.8612</c:v>
                </c:pt>
                <c:pt idx="38">
                  <c:v>0.8579</c:v>
                </c:pt>
                <c:pt idx="39">
                  <c:v>0.8632</c:v>
                </c:pt>
                <c:pt idx="40">
                  <c:v>0.8622</c:v>
                </c:pt>
                <c:pt idx="41">
                  <c:v>0.8626</c:v>
                </c:pt>
                <c:pt idx="42">
                  <c:v>0.8641</c:v>
                </c:pt>
                <c:pt idx="43">
                  <c:v>0.8672</c:v>
                </c:pt>
                <c:pt idx="44">
                  <c:v>0.8695</c:v>
                </c:pt>
                <c:pt idx="45">
                  <c:v>0.8713</c:v>
                </c:pt>
                <c:pt idx="46">
                  <c:v>0.8734</c:v>
                </c:pt>
                <c:pt idx="47">
                  <c:v>0.8722</c:v>
                </c:pt>
                <c:pt idx="48">
                  <c:v>0.8738</c:v>
                </c:pt>
                <c:pt idx="49">
                  <c:v>0.8722</c:v>
                </c:pt>
                <c:pt idx="50">
                  <c:v>0.8766</c:v>
                </c:pt>
                <c:pt idx="51">
                  <c:v>0.8762</c:v>
                </c:pt>
                <c:pt idx="52">
                  <c:v>0.8775</c:v>
                </c:pt>
                <c:pt idx="53">
                  <c:v>0.8785</c:v>
                </c:pt>
                <c:pt idx="54">
                  <c:v>0.8783</c:v>
                </c:pt>
                <c:pt idx="55">
                  <c:v>0.8787</c:v>
                </c:pt>
                <c:pt idx="56">
                  <c:v>0.8784</c:v>
                </c:pt>
                <c:pt idx="57">
                  <c:v>0.88</c:v>
                </c:pt>
                <c:pt idx="58">
                  <c:v>0.8818</c:v>
                </c:pt>
                <c:pt idx="59">
                  <c:v>0.8817</c:v>
                </c:pt>
                <c:pt idx="60">
                  <c:v>0.8801</c:v>
                </c:pt>
                <c:pt idx="61">
                  <c:v>0.883</c:v>
                </c:pt>
                <c:pt idx="62">
                  <c:v>0.883</c:v>
                </c:pt>
                <c:pt idx="63">
                  <c:v>0.8838</c:v>
                </c:pt>
                <c:pt idx="64">
                  <c:v>0.885</c:v>
                </c:pt>
                <c:pt idx="65">
                  <c:v>0.8838</c:v>
                </c:pt>
                <c:pt idx="66">
                  <c:v>0.8842</c:v>
                </c:pt>
                <c:pt idx="67">
                  <c:v>0.8851</c:v>
                </c:pt>
                <c:pt idx="68">
                  <c:v>0.8844</c:v>
                </c:pt>
                <c:pt idx="69">
                  <c:v>0.8872</c:v>
                </c:pt>
                <c:pt idx="70">
                  <c:v>0.8856</c:v>
                </c:pt>
                <c:pt idx="71">
                  <c:v>0.8869</c:v>
                </c:pt>
                <c:pt idx="72">
                  <c:v>0.8881</c:v>
                </c:pt>
                <c:pt idx="73">
                  <c:v>0.8859</c:v>
                </c:pt>
                <c:pt idx="74">
                  <c:v>0.8891</c:v>
                </c:pt>
                <c:pt idx="75">
                  <c:v>0.8894</c:v>
                </c:pt>
                <c:pt idx="76">
                  <c:v>0.8902</c:v>
                </c:pt>
                <c:pt idx="77">
                  <c:v>0.8899</c:v>
                </c:pt>
                <c:pt idx="78">
                  <c:v>0.8889</c:v>
                </c:pt>
                <c:pt idx="79">
                  <c:v>0.8882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mAP@0.5:0.95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Sheet1!$A$2:$A$81</c:f>
              <c:multiLvlStrCache>
                <c:ptCount val="8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54</c:v>
                  </c:pt>
                  <c:pt idx="54">
                    <c:v>55</c:v>
                  </c:pt>
                  <c:pt idx="55">
                    <c:v>56</c:v>
                  </c:pt>
                  <c:pt idx="56">
                    <c:v>57</c:v>
                  </c:pt>
                  <c:pt idx="57">
                    <c:v>58</c:v>
                  </c:pt>
                  <c:pt idx="58">
                    <c:v>59</c:v>
                  </c:pt>
                  <c:pt idx="59">
                    <c:v>60</c:v>
                  </c:pt>
                  <c:pt idx="60">
                    <c:v>61</c:v>
                  </c:pt>
                  <c:pt idx="61">
                    <c:v>62</c:v>
                  </c:pt>
                  <c:pt idx="62">
                    <c:v>63</c:v>
                  </c:pt>
                  <c:pt idx="63">
                    <c:v>64</c:v>
                  </c:pt>
                  <c:pt idx="64">
                    <c:v>65</c:v>
                  </c:pt>
                  <c:pt idx="65">
                    <c:v>66</c:v>
                  </c:pt>
                  <c:pt idx="66">
                    <c:v>67</c:v>
                  </c:pt>
                  <c:pt idx="67">
                    <c:v>68</c:v>
                  </c:pt>
                  <c:pt idx="68">
                    <c:v>69</c:v>
                  </c:pt>
                  <c:pt idx="69">
                    <c:v>70</c:v>
                  </c:pt>
                  <c:pt idx="70">
                    <c:v>71</c:v>
                  </c:pt>
                  <c:pt idx="71">
                    <c:v>72</c:v>
                  </c:pt>
                  <c:pt idx="72">
                    <c:v>73</c:v>
                  </c:pt>
                  <c:pt idx="73">
                    <c:v>74</c:v>
                  </c:pt>
                  <c:pt idx="74">
                    <c:v>75</c:v>
                  </c:pt>
                  <c:pt idx="75">
                    <c:v>76</c:v>
                  </c:pt>
                  <c:pt idx="76">
                    <c:v>77</c:v>
                  </c:pt>
                  <c:pt idx="77">
                    <c:v>78</c:v>
                  </c:pt>
                  <c:pt idx="78">
                    <c:v>79</c:v>
                  </c:pt>
                  <c:pt idx="79">
                    <c:v>80</c:v>
                  </c:pt>
                </c:lvl>
              </c:multiLvlStrCache>
            </c:multiLvlStrRef>
          </c:cat>
          <c:val>
            <c:numRef>
              <c:f>Sheet1!$C$2:$C$81</c:f>
              <c:numCache>
                <c:formatCode>General</c:formatCode>
                <c:ptCount val="80"/>
                <c:pt idx="0">
                  <c:v>0.3974</c:v>
                </c:pt>
                <c:pt idx="1">
                  <c:v>0.4458</c:v>
                </c:pt>
                <c:pt idx="2">
                  <c:v>0.4597</c:v>
                </c:pt>
                <c:pt idx="3">
                  <c:v>0.4758</c:v>
                </c:pt>
                <c:pt idx="4">
                  <c:v>0.492</c:v>
                </c:pt>
                <c:pt idx="5">
                  <c:v>0.5051</c:v>
                </c:pt>
                <c:pt idx="6">
                  <c:v>0.5126</c:v>
                </c:pt>
                <c:pt idx="7">
                  <c:v>0.5241</c:v>
                </c:pt>
                <c:pt idx="8">
                  <c:v>0.5367</c:v>
                </c:pt>
                <c:pt idx="9">
                  <c:v>0.5223</c:v>
                </c:pt>
                <c:pt idx="10">
                  <c:v>0.5443</c:v>
                </c:pt>
                <c:pt idx="11">
                  <c:v>0.5474</c:v>
                </c:pt>
                <c:pt idx="12">
                  <c:v>0.5515</c:v>
                </c:pt>
                <c:pt idx="13">
                  <c:v>0.5522</c:v>
                </c:pt>
                <c:pt idx="14">
                  <c:v>0.5606</c:v>
                </c:pt>
                <c:pt idx="15">
                  <c:v>0.5651</c:v>
                </c:pt>
                <c:pt idx="16">
                  <c:v>0.5662</c:v>
                </c:pt>
                <c:pt idx="17">
                  <c:v>0.5701</c:v>
                </c:pt>
                <c:pt idx="18">
                  <c:v>0.577</c:v>
                </c:pt>
                <c:pt idx="19">
                  <c:v>0.5736</c:v>
                </c:pt>
                <c:pt idx="20">
                  <c:v>0.5829</c:v>
                </c:pt>
                <c:pt idx="21">
                  <c:v>0.5809</c:v>
                </c:pt>
                <c:pt idx="22">
                  <c:v>0.5827</c:v>
                </c:pt>
                <c:pt idx="23">
                  <c:v>0.5835</c:v>
                </c:pt>
                <c:pt idx="24">
                  <c:v>0.5921</c:v>
                </c:pt>
                <c:pt idx="25">
                  <c:v>0.5908</c:v>
                </c:pt>
                <c:pt idx="26">
                  <c:v>0.5918</c:v>
                </c:pt>
                <c:pt idx="27">
                  <c:v>0.5957</c:v>
                </c:pt>
                <c:pt idx="28">
                  <c:v>0.5965</c:v>
                </c:pt>
                <c:pt idx="29">
                  <c:v>0.6006</c:v>
                </c:pt>
                <c:pt idx="30">
                  <c:v>0.5989</c:v>
                </c:pt>
                <c:pt idx="31">
                  <c:v>0.6007</c:v>
                </c:pt>
                <c:pt idx="32">
                  <c:v>0.5987</c:v>
                </c:pt>
                <c:pt idx="33">
                  <c:v>0.6017</c:v>
                </c:pt>
                <c:pt idx="34">
                  <c:v>0.6086</c:v>
                </c:pt>
                <c:pt idx="35">
                  <c:v>0.6063</c:v>
                </c:pt>
                <c:pt idx="36">
                  <c:v>0.6087</c:v>
                </c:pt>
                <c:pt idx="37">
                  <c:v>0.612</c:v>
                </c:pt>
                <c:pt idx="38">
                  <c:v>0.613</c:v>
                </c:pt>
                <c:pt idx="39">
                  <c:v>0.6149</c:v>
                </c:pt>
                <c:pt idx="40">
                  <c:v>0.6163</c:v>
                </c:pt>
                <c:pt idx="41">
                  <c:v>0.6176</c:v>
                </c:pt>
                <c:pt idx="42">
                  <c:v>0.6177</c:v>
                </c:pt>
                <c:pt idx="43">
                  <c:v>0.6203</c:v>
                </c:pt>
                <c:pt idx="44">
                  <c:v>0.6224</c:v>
                </c:pt>
                <c:pt idx="45">
                  <c:v>0.6226</c:v>
                </c:pt>
                <c:pt idx="46">
                  <c:v>0.6242</c:v>
                </c:pt>
                <c:pt idx="47">
                  <c:v>0.6245</c:v>
                </c:pt>
                <c:pt idx="48">
                  <c:v>0.6273</c:v>
                </c:pt>
                <c:pt idx="49">
                  <c:v>0.6246</c:v>
                </c:pt>
                <c:pt idx="50">
                  <c:v>0.6297</c:v>
                </c:pt>
                <c:pt idx="51">
                  <c:v>0.6281</c:v>
                </c:pt>
                <c:pt idx="52">
                  <c:v>0.6297</c:v>
                </c:pt>
                <c:pt idx="53">
                  <c:v>0.6312</c:v>
                </c:pt>
                <c:pt idx="54">
                  <c:v>0.6299</c:v>
                </c:pt>
                <c:pt idx="55">
                  <c:v>0.6308</c:v>
                </c:pt>
                <c:pt idx="56">
                  <c:v>0.6309</c:v>
                </c:pt>
                <c:pt idx="57">
                  <c:v>0.632</c:v>
                </c:pt>
                <c:pt idx="58">
                  <c:v>0.6347</c:v>
                </c:pt>
                <c:pt idx="59">
                  <c:v>0.6335</c:v>
                </c:pt>
                <c:pt idx="60">
                  <c:v>0.6327</c:v>
                </c:pt>
                <c:pt idx="61">
                  <c:v>0.6359</c:v>
                </c:pt>
                <c:pt idx="62">
                  <c:v>0.6357</c:v>
                </c:pt>
                <c:pt idx="63">
                  <c:v>0.6368</c:v>
                </c:pt>
                <c:pt idx="64">
                  <c:v>0.6383</c:v>
                </c:pt>
                <c:pt idx="65">
                  <c:v>0.6379</c:v>
                </c:pt>
                <c:pt idx="66">
                  <c:v>0.638</c:v>
                </c:pt>
                <c:pt idx="67">
                  <c:v>0.6393</c:v>
                </c:pt>
                <c:pt idx="68">
                  <c:v>0.6391</c:v>
                </c:pt>
                <c:pt idx="69">
                  <c:v>0.6408</c:v>
                </c:pt>
                <c:pt idx="70">
                  <c:v>0.6409</c:v>
                </c:pt>
                <c:pt idx="71">
                  <c:v>0.6406</c:v>
                </c:pt>
                <c:pt idx="72">
                  <c:v>0.6411</c:v>
                </c:pt>
                <c:pt idx="73">
                  <c:v>0.6404</c:v>
                </c:pt>
                <c:pt idx="74">
                  <c:v>0.6421</c:v>
                </c:pt>
                <c:pt idx="75">
                  <c:v>0.6417</c:v>
                </c:pt>
                <c:pt idx="76">
                  <c:v>0.6433</c:v>
                </c:pt>
                <c:pt idx="77">
                  <c:v>0.643</c:v>
                </c:pt>
                <c:pt idx="78">
                  <c:v>0.6426</c:v>
                </c:pt>
                <c:pt idx="79">
                  <c:v>0.6432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86A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6EF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86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E557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E557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E5577"/>
                </a:solidFill>
                <a:latin typeface="+mn-lt"/>
              </a:rPr>
              <a:t>验证集指标随轮次变化（横轴：轮次）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mAP@0.5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0.2327</c:v>
                </c:pt>
                <c:pt idx="1">
                  <c:v>0.3746</c:v>
                </c:pt>
                <c:pt idx="2">
                  <c:v>0.4441</c:v>
                </c:pt>
                <c:pt idx="3">
                  <c:v>0.5311</c:v>
                </c:pt>
                <c:pt idx="4">
                  <c:v>0.5825</c:v>
                </c:pt>
                <c:pt idx="5">
                  <c:v>0.6754</c:v>
                </c:pt>
                <c:pt idx="6">
                  <c:v>0.6229</c:v>
                </c:pt>
                <c:pt idx="7">
                  <c:v>0.6708</c:v>
                </c:pt>
                <c:pt idx="8">
                  <c:v>0.7043</c:v>
                </c:pt>
                <c:pt idx="9">
                  <c:v>0.7344</c:v>
                </c:pt>
                <c:pt idx="10">
                  <c:v>0.7182</c:v>
                </c:pt>
                <c:pt idx="11">
                  <c:v>0.7314</c:v>
                </c:pt>
                <c:pt idx="12">
                  <c:v>0.7707</c:v>
                </c:pt>
                <c:pt idx="13">
                  <c:v>0.7382</c:v>
                </c:pt>
                <c:pt idx="14">
                  <c:v>0.774</c:v>
                </c:pt>
                <c:pt idx="15">
                  <c:v>0.7631</c:v>
                </c:pt>
                <c:pt idx="16">
                  <c:v>0.799</c:v>
                </c:pt>
                <c:pt idx="17">
                  <c:v>0.787</c:v>
                </c:pt>
                <c:pt idx="18">
                  <c:v>0.7934</c:v>
                </c:pt>
                <c:pt idx="19">
                  <c:v>0.8144</c:v>
                </c:pt>
                <c:pt idx="20">
                  <c:v>0.7889</c:v>
                </c:pt>
                <c:pt idx="21">
                  <c:v>0.7896</c:v>
                </c:pt>
                <c:pt idx="22">
                  <c:v>0.7763</c:v>
                </c:pt>
                <c:pt idx="23">
                  <c:v>0.8092</c:v>
                </c:pt>
                <c:pt idx="24">
                  <c:v>0.8197</c:v>
                </c:pt>
                <c:pt idx="25">
                  <c:v>0.822</c:v>
                </c:pt>
                <c:pt idx="26">
                  <c:v>0.8074</c:v>
                </c:pt>
                <c:pt idx="27">
                  <c:v>0.8165</c:v>
                </c:pt>
                <c:pt idx="28">
                  <c:v>0.8291</c:v>
                </c:pt>
                <c:pt idx="29">
                  <c:v>0.8432</c:v>
                </c:pt>
                <c:pt idx="30">
                  <c:v>0.8473</c:v>
                </c:pt>
                <c:pt idx="31">
                  <c:v>0.831</c:v>
                </c:pt>
                <c:pt idx="32">
                  <c:v>0.8624</c:v>
                </c:pt>
                <c:pt idx="33">
                  <c:v>0.8773</c:v>
                </c:pt>
                <c:pt idx="34">
                  <c:v>0.8627</c:v>
                </c:pt>
                <c:pt idx="35">
                  <c:v>0.8458</c:v>
                </c:pt>
                <c:pt idx="36">
                  <c:v>0.8631</c:v>
                </c:pt>
                <c:pt idx="37">
                  <c:v>0.8802</c:v>
                </c:pt>
                <c:pt idx="38">
                  <c:v>0.8733</c:v>
                </c:pt>
                <c:pt idx="39">
                  <c:v>0.8885</c:v>
                </c:pt>
                <c:pt idx="40">
                  <c:v>0.8629</c:v>
                </c:pt>
                <c:pt idx="41">
                  <c:v>0.8798</c:v>
                </c:pt>
                <c:pt idx="42">
                  <c:v>0.8903</c:v>
                </c:pt>
                <c:pt idx="43">
                  <c:v>0.8693</c:v>
                </c:pt>
                <c:pt idx="44">
                  <c:v>0.8767</c:v>
                </c:pt>
                <c:pt idx="45">
                  <c:v>0.8815</c:v>
                </c:pt>
                <c:pt idx="46">
                  <c:v>0.8832</c:v>
                </c:pt>
                <c:pt idx="47">
                  <c:v>0.8874</c:v>
                </c:pt>
                <c:pt idx="48">
                  <c:v>0.8892</c:v>
                </c:pt>
                <c:pt idx="49">
                  <c:v>0.8927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mAP@0.5:0.95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Sheet1!$C$2:$C$51</c:f>
              <c:numCache>
                <c:formatCode>General</c:formatCode>
                <c:ptCount val="50"/>
                <c:pt idx="0">
                  <c:v>0.1623</c:v>
                </c:pt>
                <c:pt idx="1">
                  <c:v>0.2636</c:v>
                </c:pt>
                <c:pt idx="2">
                  <c:v>0.2993</c:v>
                </c:pt>
                <c:pt idx="3">
                  <c:v>0.3789</c:v>
                </c:pt>
                <c:pt idx="4">
                  <c:v>0.4159</c:v>
                </c:pt>
                <c:pt idx="5">
                  <c:v>0.4868</c:v>
                </c:pt>
                <c:pt idx="6">
                  <c:v>0.4644</c:v>
                </c:pt>
                <c:pt idx="7">
                  <c:v>0.5074</c:v>
                </c:pt>
                <c:pt idx="8">
                  <c:v>0.5195</c:v>
                </c:pt>
                <c:pt idx="9">
                  <c:v>0.5507</c:v>
                </c:pt>
                <c:pt idx="10">
                  <c:v>0.5495</c:v>
                </c:pt>
                <c:pt idx="11">
                  <c:v>0.5503</c:v>
                </c:pt>
                <c:pt idx="12">
                  <c:v>0.5827</c:v>
                </c:pt>
                <c:pt idx="13">
                  <c:v>0.5715</c:v>
                </c:pt>
                <c:pt idx="14">
                  <c:v>0.5959</c:v>
                </c:pt>
                <c:pt idx="15">
                  <c:v>0.5972</c:v>
                </c:pt>
                <c:pt idx="16">
                  <c:v>0.6179</c:v>
                </c:pt>
                <c:pt idx="17">
                  <c:v>0.6149</c:v>
                </c:pt>
                <c:pt idx="18">
                  <c:v>0.6285</c:v>
                </c:pt>
                <c:pt idx="19">
                  <c:v>0.6344</c:v>
                </c:pt>
                <c:pt idx="20">
                  <c:v>0.6152</c:v>
                </c:pt>
                <c:pt idx="21">
                  <c:v>0.6214</c:v>
                </c:pt>
                <c:pt idx="22">
                  <c:v>0.598</c:v>
                </c:pt>
                <c:pt idx="23">
                  <c:v>0.6368</c:v>
                </c:pt>
                <c:pt idx="24">
                  <c:v>0.6418</c:v>
                </c:pt>
                <c:pt idx="25">
                  <c:v>0.6621</c:v>
                </c:pt>
                <c:pt idx="26">
                  <c:v>0.6421</c:v>
                </c:pt>
                <c:pt idx="27">
                  <c:v>0.6464</c:v>
                </c:pt>
                <c:pt idx="28">
                  <c:v>0.6532</c:v>
                </c:pt>
                <c:pt idx="29">
                  <c:v>0.6686</c:v>
                </c:pt>
                <c:pt idx="30">
                  <c:v>0.6795</c:v>
                </c:pt>
                <c:pt idx="31">
                  <c:v>0.669</c:v>
                </c:pt>
                <c:pt idx="32">
                  <c:v>0.7032</c:v>
                </c:pt>
                <c:pt idx="33">
                  <c:v>0.7202</c:v>
                </c:pt>
                <c:pt idx="34">
                  <c:v>0.7056</c:v>
                </c:pt>
                <c:pt idx="35">
                  <c:v>0.6877</c:v>
                </c:pt>
                <c:pt idx="36">
                  <c:v>0.6939</c:v>
                </c:pt>
                <c:pt idx="37">
                  <c:v>0.7166</c:v>
                </c:pt>
                <c:pt idx="38">
                  <c:v>0.7111</c:v>
                </c:pt>
                <c:pt idx="39">
                  <c:v>0.7276</c:v>
                </c:pt>
                <c:pt idx="40">
                  <c:v>0.6963</c:v>
                </c:pt>
                <c:pt idx="41">
                  <c:v>0.7236</c:v>
                </c:pt>
                <c:pt idx="42">
                  <c:v>0.7305</c:v>
                </c:pt>
                <c:pt idx="43">
                  <c:v>0.7188</c:v>
                </c:pt>
                <c:pt idx="44">
                  <c:v>0.7223</c:v>
                </c:pt>
                <c:pt idx="45">
                  <c:v>0.7224</c:v>
                </c:pt>
                <c:pt idx="46">
                  <c:v>0.7191</c:v>
                </c:pt>
                <c:pt idx="47">
                  <c:v>0.7307</c:v>
                </c:pt>
                <c:pt idx="48">
                  <c:v>0.7344</c:v>
                </c:pt>
                <c:pt idx="49">
                  <c:v>0.7373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86A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6EF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86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E557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开场：每张实验桌一台安全终端，由三个独立程序组成：控制盒固件、实验台终端、总后台。下面每一页都对应仓库里的具体模块。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需求先翻译成工程约束：能断电而且程序坏了也能断，所以有独立的控制盒和固件硬规则；要事前预警，所以判断放在本机；要看清台面，所以加第二路摄像头和红外测温。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三个程序：控制盒固件、实验台终端 run_app.py、总后台 run_center.py。终端和控制盒走 USB 串口自定义帧，终端和总后台走 HTTP。安全判断集中在 SafetyEngine，所有界面只读快照。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判断有三个触发源：每帧识别结果、每次遥测、每秒一次定时器，摄像头掉线时也照常判断。每次都跑同一条调用链，最后一步才喂心跳；交叉验证每秒算一次，界面只读 snapshot。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人员模型 12 类、器皿模型 14 类。类别名通过映射表变成事件 kind，比如 no googles 变成 ppe_goggles；器皿按可加热、不可加热分组，供规则和交叉验证使用。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两个模型都是 YOLO11n 微调。人员模型训练 80 轮、取第 77 轮权重，mAP@0.5 为 89.0%；器皿模型 50 轮，mAP@0.5 为 89.3%。这是验证集上的检测指标，不是事故识别准确率。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部署按 RKNN、ONNX、.pt 的顺序尝试；RKNN 要先试跑一次才真正加载 NPU，失败就换下一种格式，并写一条事件。帧队列只保留最新的两帧，判断不会被积压的旧帧拖慢。NPU 单帧人员 120 ms、器皿 116 ms。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单帧检测结果不直接报警：3 s 窗口内命中帧占比 ≥60% 才确认，≤20% 才解除，有滞回。人员在场用装备检出代替 person 类，连续 15 s 无检出才算无人。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演示：摘下头罩、护目镜、口罩吃苹果。检测框经投票确认，events.update 在上升沿播语音，曲目号来自 config.yaml，经串口 PLAY_VOICE 让控制盒播放。分数叠加后小屏和信号灯变红。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学生是第一用户：提醒先发给台前的学生。每桌一台终端，断网也照常判断；小屏按现场设计，不做动画，不和识别抢 CPU。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第一个分叉：交叉验证是多源规则打分，不是机器学习里的交叉验证。每条因子带来源和分值，相加封顶 100，30 分中危、70 分高危。三个例子的分数都能从代码里逐项算出来。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断电只看 R1 到 R9 这组确定的规则，只有 cut=True 的才下发断电。温度预测用一阶热平衡拟合，低于沸点只给沸腾时间；越过沸点还在升温，才给干烧倒计时，触发 R9 预警，不断电。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第二个分叉：同一事件三层各自定级。吃苹果对学生是高危，对老师只记知会，对实验楼不打扰；断电锁定三层都是最高。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实现上就是在同一份打分上做三次过滤：老师层去掉行为因子，实验楼层只看断电锁定和紧急事件。等级随快照字段 risk.tiers 上报，不参与断电。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安全助手的工具表只有 5 个只读工具，测试会扫描工具名，不允许出现电源、继电器类工具。线路自动选择，都不可用时用规则模板，截图里这条建议就是规则模板生成的。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断电链路：开发板发 POWER_OFF，控制盒断继电器回 ACK，0.25 s 超时重发，最多发送 3 次，往返中位 4.9 ms。控制盒另有固件硬规则。软件和总后台都没有通电接口。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心跳不是定时器发的：只有安全判断每次跑完调用 feed()，发送线程才发心跳。程序卡死 5 s 心跳就停，控制盒 30 s 收不到心跳、继电器闭合且热源高于 60℃（测不到温度也算）就本地断电。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帧格式：AA 55 帧头、长度、序号、命令、负载、CRC16-CCITT 小端。断电指令要 ACK，0.25 s 超时重发，最多发送 3 次。固件和仿真下位机共用这一协议，测试不需要硬件。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总后台三个视角自动轮换：学生端视角吃苹果那张桌是红的；实验室视角变绿；实验楼视角只剩断电锁定那张红。视角就是接口参数 tier。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终端每 2 秒调一次上报接口，带上快照和上次指令的执行结果；总后台返回区域阈值、待执行指令和语音包版本。指令白名单只有断电和静音。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账号、授权、阈值方案、语音包、审计都在总后台的 SQLite 里。阈值下发到终端后，终端按本机控制盒的硬上限重建白名单，超限项不生效并回报原因。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只断不通、大模型不碰电闸，这些约束都写成了测试：扫描路由和工具名。三套测试共 212 个用例，用仿真下位机，不需要硬件。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实物运行照片。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总结：需求落成三条工程约束，判断在本机、断电在硬件、提醒按三层分级、总后台管全楼。出发点是让做实验的同学在出事之前就被提醒。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3108960"/>
            <a:ext cx="10360152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4892040"/>
            <a:ext cx="1036015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758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基于双摄协同的实验室安全事前干预监测系统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3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758952" y="1527048"/>
            <a:ext cx="5330952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照片 1：实验台终端整机运行</a:t>
            </a:r>
            <a:endParaRPr lang="en-US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6400800" y="1527048"/>
            <a:ext cx="5029200" cy="2148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照片 2：控制盒与传感器接线</a:t>
            </a:r>
            <a:endParaRPr lang="en-US" dirty="0"/>
          </a:p>
        </p:txBody>
      </p:sp>
      <p:sp>
        <p:nvSpPr>
          <p:cNvPr id="5" name="Text 0"/>
          <p:cNvSpPr/>
          <p:nvPr>
            <p:ph idx="103" hasCustomPrompt="1"/>
          </p:nvPr>
        </p:nvSpPr>
        <p:spPr>
          <a:xfrm>
            <a:off x="6400800" y="3858768"/>
            <a:ext cx="5029200" cy="2148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照片 3：小屏提醒或总后台联调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758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基于双摄协同的实验室安全事前干预监测系统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3108960"/>
            <a:ext cx="103601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基于双摄协同的实验室安全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事前干预监测系统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914400" y="4892040"/>
            <a:ext cx="10360152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放在每一张实验桌上的安全终端</a:t>
            </a:r>
            <a:endParaRPr lang="en-US" sz="1800" dirty="0"/>
          </a:p>
        </p:txBody>
      </p:sp>
      <p:sp>
        <p:nvSpPr>
          <p:cNvPr id="5" name="信号灯（片头）"/>
          <p:cNvSpPr/>
          <p:nvPr/>
        </p:nvSpPr>
        <p:spPr>
          <a:xfrm>
            <a:off x="5707380" y="2151380"/>
            <a:ext cx="777240" cy="77724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879600" y="0"/>
            <a:ext cx="50800" cy="1111250"/>
          </a:xfrm>
          <a:prstGeom prst="rect">
            <a:avLst/>
          </a:prstGeom>
          <a:solidFill>
            <a:srgbClr val="CDD2E3"/>
          </a:solidFill>
          <a:ln/>
        </p:spPr>
      </p:sp>
      <p:sp>
        <p:nvSpPr>
          <p:cNvPr id="4" name="Shape 1"/>
          <p:cNvSpPr/>
          <p:nvPr/>
        </p:nvSpPr>
        <p:spPr>
          <a:xfrm>
            <a:off x="1143000" y="1079500"/>
            <a:ext cx="1587500" cy="76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  <a:effectLst>
            <a:outerShdw sx="100000" sy="100000" kx="0" ky="0" algn="bl" rotWithShape="0" blurRad="228600" dist="76200" dir="5400000">
              <a:srgbClr val="262E6E">
                <a:alpha val="18000"/>
              </a:srgbClr>
            </a:outerShdw>
          </a:effectLst>
        </p:spPr>
      </p:sp>
      <p:sp>
        <p:nvSpPr>
          <p:cNvPr id="5" name="监控镜头"/>
          <p:cNvSpPr/>
          <p:nvPr/>
        </p:nvSpPr>
        <p:spPr>
          <a:xfrm>
            <a:off x="2060956" y="1222756"/>
            <a:ext cx="475488" cy="475488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969DB8">
                <a:alpha val="5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556000" y="9525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监控只能事后回看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3556000" y="1778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2"/>
                </a:solidFill>
              </a:rPr>
              <a:t>三个缺口，对应三条工程约束，再落到具体的硬件和模块。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58952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缺口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24612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工程约束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26517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落到哪里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8952" y="3017520"/>
            <a:ext cx="10671048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" y="31455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事故发生时不能干预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314553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能直接切断加热电源；开发板程序出故障时也要能断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314553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ESP32-S3 控制盒 + 继电器；固件本地硬规则与心跳看门狗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58952" y="3886200"/>
            <a:ext cx="10671048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8952" y="401421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事故发生前不能预警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246120" y="401421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识别和判断在实验桌本机实时完成，不依赖网络和人工盯守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401421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每桌一台 RK3588 终端，NPU 推理，SafetyEngine 本地运行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58952" y="4754880"/>
            <a:ext cx="10671048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952" y="488289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俯拍看不清台面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246120" y="488289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器皿种类、离桌边的距离、热源温度都要测得到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488289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第二路台面摄像头 + 器皿模型；MLX90614 红外测温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58952" y="5623560"/>
            <a:ext cx="10671048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24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系统组成：三个独立程序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58952" y="1554480"/>
            <a:ext cx="2468880" cy="361188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控制盒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ESP32-S3，Arduino 固件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14400" y="2377440"/>
            <a:ext cx="2157984" cy="777240"/>
          </a:xfrm>
          <a:prstGeom prst="roundRect">
            <a:avLst>
              <a:gd name="adj" fmla="val 8235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2377440"/>
            <a:ext cx="1975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SHT30 温湿度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MLX90614 红外测温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MQ-2 烟雾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3246120"/>
            <a:ext cx="2157984" cy="594360"/>
          </a:xfrm>
          <a:prstGeom prst="roundRect">
            <a:avLst>
              <a:gd name="adj" fmla="val 10769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324612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继电器（加热电源）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控制键、信号灯、蜂鸣器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3931920"/>
            <a:ext cx="2157984" cy="548640"/>
          </a:xfrm>
          <a:prstGeom prst="roundRect">
            <a:avLst>
              <a:gd name="adj" fmla="val 11667"/>
            </a:avLst>
          </a:prstGeom>
          <a:solidFill>
            <a:schemeClr val="tx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5840" y="393192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本地硬规则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150℃ / 2500 / 心跳 30 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15968" y="1554480"/>
            <a:ext cx="4206240" cy="3611880"/>
          </a:xfrm>
          <a:prstGeom prst="roundRect">
            <a:avLst>
              <a:gd name="adj" fmla="val 4051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05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实验台终端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057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RK3588，Python，run_app.py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80560" y="2377440"/>
            <a:ext cx="1892808" cy="502920"/>
          </a:xfrm>
          <a:prstGeom prst="roundRect">
            <a:avLst>
              <a:gd name="adj" fmla="val 12727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0" y="237744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识别线程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dual_inference.py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64808" y="2377440"/>
            <a:ext cx="1892808" cy="502920"/>
          </a:xfrm>
          <a:prstGeom prst="roundRect">
            <a:avLst>
              <a:gd name="adj" fmla="val 12727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56248" y="237744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传感器线程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sensor_worker.py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80560" y="2971800"/>
            <a:ext cx="3877056" cy="566928"/>
          </a:xfrm>
          <a:prstGeom prst="roundRect">
            <a:avLst>
              <a:gd name="adj" fmla="val 11290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572000" y="2971800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SafetyEngine：R1–R9 → 交叉验证 → 温度预测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engine.py / state_machine.py / cross_check.py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480560" y="3630168"/>
            <a:ext cx="1892808" cy="502920"/>
          </a:xfrm>
          <a:prstGeom prst="roundRect">
            <a:avLst>
              <a:gd name="adj" fmla="val 12727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0" y="3630168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事件中心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语音、灯、截图、SQLite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64808" y="3630168"/>
            <a:ext cx="1892808" cy="502920"/>
          </a:xfrm>
          <a:prstGeom prst="roundRect">
            <a:avLst>
              <a:gd name="adj" fmla="val 12727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56248" y="3630168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安全助手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只读工具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480560" y="4206240"/>
            <a:ext cx="1892808" cy="502920"/>
          </a:xfrm>
          <a:prstGeom prst="roundRect">
            <a:avLst>
              <a:gd name="adj" fmla="val 12727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0" y="420624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实验台小屏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kiosk.py（Qt）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64808" y="4206240"/>
            <a:ext cx="1892808" cy="502920"/>
          </a:xfrm>
          <a:prstGeom prst="roundRect">
            <a:avLst>
              <a:gd name="adj" fmla="val 12727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56248" y="420624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本机控制台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:8180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601200" y="1554480"/>
            <a:ext cx="1828800" cy="361188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73836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总后台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973836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run_center.py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738360" y="237744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82980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FastAPI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:8200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9738360" y="2971800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829800" y="2971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SQLite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账号、区域、指令、审计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9738360" y="3749040"/>
            <a:ext cx="1554480" cy="502920"/>
          </a:xfrm>
          <a:prstGeom prst="roundRect">
            <a:avLst>
              <a:gd name="adj" fmla="val 12727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829800" y="3749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原生 JS 前端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无构建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3300984" y="3108960"/>
            <a:ext cx="941832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40" name="Text 37"/>
          <p:cNvSpPr txBox="1"/>
          <p:nvPr/>
        </p:nvSpPr>
        <p:spPr>
          <a:xfrm>
            <a:off x="3227832" y="274320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 串口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3182112" y="320040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 55 帧</a:t>
            </a:r>
            <a:endParaRPr lang="en-US" sz="9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CRC16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595360" y="3108960"/>
            <a:ext cx="932688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8522208" y="274320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8476488" y="32004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上报快照</a:t>
            </a:r>
            <a:endParaRPr lang="en-US" sz="9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取回阈值、指令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758952" y="5440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安全判断不依赖任何界面：小屏、本机控制台和总后台都只读取 SafetyEngine.snapshot()。</a:t>
            </a:r>
            <a:endParaRPr lang="en-US" sz="1300" dirty="0"/>
          </a:p>
        </p:txBody>
      </p:sp>
      <p:sp>
        <p:nvSpPr>
          <p:cNvPr id="46" name="信号灯"/>
          <p:cNvSpPr/>
          <p:nvPr/>
        </p:nvSpPr>
        <p:spPr>
          <a:xfrm>
            <a:off x="7503160" y="178816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一次判断：三个触发源，一条调用链</a:t>
            </a:r>
            <a:endParaRPr lang="en-US" sz="3200" dirty="0"/>
          </a:p>
        </p:txBody>
      </p:sp>
      <p:sp>
        <p:nvSpPr>
          <p:cNvPr id="4" name="代码块"/>
          <p:cNvSpPr/>
          <p:nvPr/>
        </p:nvSpPr>
        <p:spPr>
          <a:xfrm>
            <a:off x="758952" y="1371600"/>
            <a:ext cx="5349240" cy="1965960"/>
          </a:xfrm>
          <a:prstGeom prst="roundRect">
            <a:avLst>
              <a:gd name="adj" fmla="val 6512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41832" y="1463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SafetyEngine.__init__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src/core/engine.py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07992" y="1463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L104–112 节选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41832" y="182880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每一帧识别结果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self.inference_thread.update_frames_signal.connect(self._on_frames)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每一次控制盒遥测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self.sensor_worker.sensor_data_updated.connect(self._on_sensor)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每秒一次：摄像头全部掉线时也照常判断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self._tick = QTimer(self)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self._tick.timeout.connect(self._on_tick)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self._tick.start(1000)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58952" y="37490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线程边界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856232" y="374904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识别、串口各在后台线程，结果经 Qt 信号回到主线程再判断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8952" y="4187952"/>
            <a:ext cx="534924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" y="418795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帧队列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856232" y="418795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maxsize=2，满了丢最旧的（put_latest）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58952" y="4626864"/>
            <a:ext cx="534924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" y="462686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网页线程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856232" y="462686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不碰 numpy 画面，只取 latest_jpeg() 编码好的字节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75120" y="1371600"/>
            <a:ext cx="4754880" cy="402336"/>
          </a:xfrm>
          <a:prstGeom prst="roundRect">
            <a:avLst>
              <a:gd name="adj" fmla="val 15909"/>
            </a:avLst>
          </a:prstGeom>
          <a:solidFill>
            <a:schemeClr val="accent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12280" y="137160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_evaluate()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</a:rPr>
              <a:t>   每次触发都跑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40880" y="1847088"/>
            <a:ext cx="4389120" cy="402336"/>
          </a:xfrm>
          <a:prstGeom prst="roundRect">
            <a:avLst>
              <a:gd name="adj" fmla="val 15909"/>
            </a:avLst>
          </a:prstGeom>
          <a:solidFill>
            <a:srgbClr val="F7F8FC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78040" y="184708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state_machine.evaluate()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 规则 R1–R9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40880" y="2322576"/>
            <a:ext cx="4389120" cy="402336"/>
          </a:xfrm>
          <a:prstGeom prst="roundRect">
            <a:avLst>
              <a:gd name="adj" fmla="val 15909"/>
            </a:avLst>
          </a:prstGeom>
          <a:solidFill>
            <a:srgbClr val="F7F8FC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78040" y="232257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world_model.update()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 温度预测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40880" y="2798064"/>
            <a:ext cx="4389120" cy="402336"/>
          </a:xfrm>
          <a:prstGeom prst="roundRect">
            <a:avLst>
              <a:gd name="adj" fmla="val 15909"/>
            </a:avLst>
          </a:prstGeom>
          <a:solidFill>
            <a:srgbClr val="F7F8FC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78040" y="279806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events.update()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 事件、语音、灯、截图、SQLite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040880" y="3273552"/>
            <a:ext cx="4389120" cy="402336"/>
          </a:xfrm>
          <a:prstGeom prst="roundRect">
            <a:avLst>
              <a:gd name="adj" fmla="val 15909"/>
            </a:avLst>
          </a:prstGeom>
          <a:solidFill>
            <a:srgbClr val="F7F8FC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178040" y="327355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send_power_off()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 需要断电时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40880" y="3749040"/>
            <a:ext cx="4389120" cy="402336"/>
          </a:xfrm>
          <a:prstGeom prst="roundRect">
            <a:avLst>
              <a:gd name="adj" fmla="val 15909"/>
            </a:avLst>
          </a:prstGeom>
          <a:solidFill>
            <a:srgbClr val="F7F8FC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78040" y="37490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serial.feed()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 最后一步：喂心跳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675120" y="4224528"/>
            <a:ext cx="4754880" cy="402336"/>
          </a:xfrm>
          <a:prstGeom prst="roundRect">
            <a:avLst>
              <a:gd name="adj" fmla="val 15909"/>
            </a:avLst>
          </a:prstGeom>
          <a:solidFill>
            <a:schemeClr val="accent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12280" y="422452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update_risk()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</a:rPr>
              <a:t>   每秒：交叉验证三级 + 三层定级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675120" y="4700016"/>
            <a:ext cx="4754880" cy="402336"/>
          </a:xfrm>
          <a:prstGeom prst="roundRect">
            <a:avLst>
              <a:gd name="adj" fmla="val 15909"/>
            </a:avLst>
          </a:prstGeom>
          <a:solidFill>
            <a:schemeClr val="accent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812280" y="470001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snapshot()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</a:rPr>
              <a:t>   小屏、本机控制台、总后台都只读它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58952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断电只由规则执行；交叉验证、温度预测和安全助手只影响提醒，不参与断电。</a:t>
            </a:r>
            <a:endParaRPr lang="en-US" sz="1200" dirty="0"/>
          </a:p>
        </p:txBody>
      </p:sp>
      <p:sp>
        <p:nvSpPr>
          <p:cNvPr id="33" name="信号灯"/>
          <p:cNvSpPr/>
          <p:nvPr/>
        </p:nvSpPr>
        <p:spPr>
          <a:xfrm>
            <a:off x="6563360" y="152146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两路摄像头、两个模型：类别名怎么变成事件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58952" y="1371600"/>
            <a:ext cx="4846320" cy="173736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15361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全景摄像头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3108960" y="159105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ppe_best，12 类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02996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护目镜　手套　实验服　口罩　头罩　以上五项的未佩戴类　进食　饮水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697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模型没有 person 类：检出任意一类装备即视为有人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8952" y="3291840"/>
            <a:ext cx="4846320" cy="21945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" y="34564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台面摄像头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35112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chem_best，14 类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395020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烧杯　锥形瓶　圆底烧瓶　平底烧瓶　梨形瓶　试管　量筒　容量瓶　滴定管　移液管　试剂瓶　洗瓶　漏斗　滴定装置</a:t>
            </a:r>
            <a:endParaRPr lang="en-US" sz="1400" dirty="0"/>
          </a:p>
        </p:txBody>
      </p:sp>
      <p:sp>
        <p:nvSpPr>
          <p:cNvPr id="13" name="代码块"/>
          <p:cNvSpPr/>
          <p:nvPr/>
        </p:nvSpPr>
        <p:spPr>
          <a:xfrm>
            <a:off x="5897880" y="1371600"/>
            <a:ext cx="5532120" cy="2481580"/>
          </a:xfrm>
          <a:prstGeom prst="roundRect">
            <a:avLst>
              <a:gd name="adj" fmla="val 5159"/>
            </a:avLst>
          </a:prstGeom>
          <a:solidFill>
            <a:schemeClr val="accent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080760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PPE_VIOLATION_KINDS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dual_inference.py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829800" y="1463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L117–126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080760" y="1828800"/>
            <a:ext cx="5166360" cy="193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PPE_VIOLATION_KINDS =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 googles": ("ppe_goggles", "未佩戴护目镜"),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 goggles": ("ppe_goggles", "未佩戴护目镜"),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 lab coat": ("ppe_coat", "未穿实验服"),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 gloves": ("ppe_gloves", "未佩戴手套"),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 mask": ("ppe_mask", "未佩戴口罩"),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 head mask": ("ppe_headmask", "未佩戴头罩"),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"eating": ("eating", "实验区饮食"),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"drinking": ("eating", "实验区饮食"),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代码块"/>
          <p:cNvSpPr/>
          <p:nvPr/>
        </p:nvSpPr>
        <p:spPr>
          <a:xfrm>
            <a:off x="5897880" y="3977640"/>
            <a:ext cx="5532120" cy="1303020"/>
          </a:xfrm>
          <a:prstGeom prst="roundRect">
            <a:avLst>
              <a:gd name="adj" fmla="val 9825"/>
            </a:avLst>
          </a:prstGeom>
          <a:solidFill>
            <a:schemeClr val="accent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080760" y="4069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器皿分组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src/core/cross_check.py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829800" y="4069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L22–23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080760" y="4434840"/>
            <a:ext cx="5166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HEATABLE = {"beaker", "conical flask", "flat bottom flask",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"round bottom flask", "pear shaped flask", "test tube"}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NON_HEATABLE = {"volumetric flask", "measuring cylinder",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"reagent bottle", "burette", "pipette", "wash bottle"}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897880" y="539496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训练集把护目镜拼成了 googles，映射表两种拼写都收；表里没有的「no xxx」类按规则自动生成 ppe_xxx 事件。</a:t>
            </a:r>
            <a:endParaRPr lang="en-US" sz="1100" dirty="0"/>
          </a:p>
        </p:txBody>
      </p:sp>
      <p:sp>
        <p:nvSpPr>
          <p:cNvPr id="22" name="信号灯"/>
          <p:cNvSpPr/>
          <p:nvPr/>
        </p:nvSpPr>
        <p:spPr>
          <a:xfrm>
            <a:off x="11084560" y="128016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YOLO11n 微调，各约 2.59 M 参数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16000" y="1714500"/>
            <a:ext cx="4953000" cy="4191000"/>
          </a:xfrm>
          <a:prstGeom prst="roundRect">
            <a:avLst>
              <a:gd name="adj" fmla="val 3491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235456" y="19156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人员模型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027680" y="19613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全景摄像头，12 类，训练 80 轮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35456" y="24460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89.0%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235456" y="29032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mAP@0.5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369312" y="24460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83.4%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369312" y="29032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503168" y="24460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87.7%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503168" y="29032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Recall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637024" y="24460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64.3%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637024" y="29032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mAP@0.5:0.95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1153160" y="3268980"/>
          <a:ext cx="46786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1235456" y="56007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best.pt：第 77 轮　mAP@0.5 89.0%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23000" y="1714500"/>
            <a:ext cx="4953000" cy="4191000"/>
          </a:xfrm>
          <a:prstGeom prst="roundRect">
            <a:avLst>
              <a:gd name="adj" fmla="val 3491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42456" y="19156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器皿模型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8234680" y="19613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台面摄像头，14 类，训练 50 轮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42456" y="24460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89.3%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6442456" y="29032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mAP@0.5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576312" y="24460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86.7%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7576312" y="29032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Precision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8710168" y="24460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85.1%</a:t>
            </a:r>
            <a:endParaRPr lang="en-US" sz="2400" dirty="0"/>
          </a:p>
        </p:txBody>
      </p:sp>
      <p:sp>
        <p:nvSpPr>
          <p:cNvPr id="25" name="Text 21"/>
          <p:cNvSpPr txBox="1"/>
          <p:nvPr/>
        </p:nvSpPr>
        <p:spPr>
          <a:xfrm>
            <a:off x="8710168" y="29032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Recall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9844024" y="24460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73.7%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9844024" y="29032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mAP@0.5:0.95</a:t>
            </a:r>
            <a:endParaRPr lang="en-US" sz="11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6360160" y="3268980"/>
          <a:ext cx="46786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6442456" y="56007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best.pt：第 50 轮　mAP@0.5 89.3%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758952" y="1346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指标为 best.pt 所在轮次（人员模型第 77 轮，器皿模型第 50 轮）的验证集检测指标，数据来自 models/model_card.json</a:t>
            </a:r>
            <a:endParaRPr lang="en-US" sz="1200" dirty="0"/>
          </a:p>
        </p:txBody>
      </p:sp>
      <p:sp>
        <p:nvSpPr>
          <p:cNvPr id="31" name="信号灯"/>
          <p:cNvSpPr/>
          <p:nvPr/>
        </p:nvSpPr>
        <p:spPr>
          <a:xfrm>
            <a:off x="11084560" y="86106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部署：按 RKNN → ONNX → .pt 加载，失败自动回退</a:t>
            </a:r>
            <a:endParaRPr lang="en-US" sz="3200" dirty="0"/>
          </a:p>
        </p:txBody>
      </p:sp>
      <p:sp>
        <p:nvSpPr>
          <p:cNvPr id="4" name="代码块"/>
          <p:cNvSpPr/>
          <p:nvPr/>
        </p:nvSpPr>
        <p:spPr>
          <a:xfrm>
            <a:off x="758952" y="1371600"/>
            <a:ext cx="6263640" cy="3291840"/>
          </a:xfrm>
          <a:prstGeom prst="roundRect">
            <a:avLst>
              <a:gd name="adj" fmla="val 3889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41832" y="14630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_load_model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dual_inference.py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22392" y="1463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L292–313 节选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41832" y="1828800"/>
            <a:ext cx="5897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path in paths:          # 按 vision.prefer_format 排好的候选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path.endswith("_rknn_model") and not ON_ROCKCHIP: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= YOLO(path, task="detect")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path.endswith("_rknn_model"):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imgsz = int(cfg("vision.imgsz", 640))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第一次推理才真正加载 NPU，先试跑一次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model(np.zeros((imgsz, imgsz, 3), np.uint8),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verbose=False, imgsz=imgsz)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self._fixed_imgsz = imgsz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err: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events.log("NPU 模型没加载上", ..., kind="model")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model, model.names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 = str(e)</a:t>
            </a:r>
            <a:endParaRPr lang="en-US" sz="900" dirty="0"/>
          </a:p>
        </p:txBody>
      </p:sp>
      <p:sp>
        <p:nvSpPr>
          <p:cNvPr id="8" name="代码块"/>
          <p:cNvSpPr/>
          <p:nvPr/>
        </p:nvSpPr>
        <p:spPr>
          <a:xfrm>
            <a:off x="7269480" y="1371600"/>
            <a:ext cx="4160520" cy="2665730"/>
          </a:xfrm>
          <a:prstGeom prst="roundRect">
            <a:avLst>
              <a:gd name="adj" fmla="val 4802"/>
            </a:avLst>
          </a:prstGeom>
          <a:solidFill>
            <a:schemeClr val="accent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52360" y="1463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put_latest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dual_inference.py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829800" y="1463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L145–155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1828800"/>
            <a:ext cx="3794760" cy="2117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put_latest(q, item):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队列满时丢弃最旧的元素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q.put_nowait(item)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queue.Full: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try: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q.get_nowait()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except queue.Empty: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pass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420624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NPU 单帧推理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42062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人员 120 ms / 器皿 116 ms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69480" y="4645152"/>
            <a:ext cx="416052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69480" y="464515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版本一致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46451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导出工具、板上运行时均为 2.3.2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69480" y="5084064"/>
            <a:ext cx="416052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69480" y="508406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输入尺寸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508406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导出时固定 640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58952" y="489204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RK3588 实测，FP16；tools/check_npu.py 对比 NPU 与 .pt 的检测结果一致。NPU 加载失败时改用 .pt（CPU），并写一条事件。</a:t>
            </a:r>
            <a:endParaRPr lang="en-US" sz="1100" dirty="0"/>
          </a:p>
        </p:txBody>
      </p:sp>
      <p:sp>
        <p:nvSpPr>
          <p:cNvPr id="21" name="信号灯"/>
          <p:cNvSpPr/>
          <p:nvPr/>
        </p:nvSpPr>
        <p:spPr>
          <a:xfrm>
            <a:off x="11084560" y="128016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从检测框到事件：时间窗口投票</a:t>
            </a:r>
            <a:endParaRPr lang="en-US" sz="3200" dirty="0"/>
          </a:p>
        </p:txBody>
      </p:sp>
      <p:sp>
        <p:nvSpPr>
          <p:cNvPr id="4" name="代码块"/>
          <p:cNvSpPr/>
          <p:nvPr/>
        </p:nvSpPr>
        <p:spPr>
          <a:xfrm>
            <a:off x="758952" y="1651000"/>
            <a:ext cx="5715000" cy="2849880"/>
          </a:xfrm>
          <a:prstGeom prst="roundRect">
            <a:avLst>
              <a:gd name="adj" fmla="val 4492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41832" y="1742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TemporalVoter.update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LabSafetyMonitor/dual_inference.py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873752" y="1742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L169–180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41832" y="2108200"/>
            <a:ext cx="5349240" cy="2301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kind in kinds: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self.hist.setdefault(kind, deque())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d.append((now, kind in hits))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d and now - d[0][0] &gt; self.window: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d.popleft()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len(d) &lt; self.min_frames: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ratio = sum(1 for _, h in d if h) / len(d)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self.active.get(kind) and ratio &gt;= self.on_ratio: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self.active[kind] = True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self.active.get(kind) and ratio &lt;= self.off_ratio: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self.active[kind] = False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175500" y="16510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窗口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38540" y="16510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window_s = 3.0 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75500" y="2089912"/>
            <a:ext cx="397764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75500" y="20899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确认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638540" y="208991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命中帧占比 ≥ 60%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75500" y="2528824"/>
            <a:ext cx="397764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75500" y="252882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解除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638540" y="252882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命中帧占比 ≤ 20%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175500" y="2967736"/>
            <a:ext cx="397764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75500" y="296773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最少帧数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638540" y="296773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175500" y="35560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确认和解除用两个阈值，形成滞回，单帧误检不会触发提醒，事件也不会在边界上反复跳变。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175500" y="44450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人员在场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364220" y="44450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人员模型任一类检出即视为有人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175500" y="4883912"/>
            <a:ext cx="397764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75500" y="488391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无人值守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364220" y="488391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连续 15 s 无检出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175500" y="5322824"/>
            <a:ext cx="397764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75500" y="532282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画面无效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364220" y="532282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黑屏、无摄像头、演示数据时不判断无人</a:t>
            </a:r>
            <a:endParaRPr lang="en-US" sz="1400" dirty="0"/>
          </a:p>
        </p:txBody>
      </p:sp>
      <p:sp>
        <p:nvSpPr>
          <p:cNvPr id="28" name="信号灯"/>
          <p:cNvSpPr/>
          <p:nvPr/>
        </p:nvSpPr>
        <p:spPr>
          <a:xfrm>
            <a:off x="6639560" y="155956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演示：吃苹果的同学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58952" y="1371600"/>
            <a:ext cx="1520647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58952" y="1371600"/>
            <a:ext cx="15206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检测框 no googles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334463" y="1554480"/>
            <a:ext cx="1828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572207" y="1371600"/>
            <a:ext cx="1611173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72207" y="1371600"/>
            <a:ext cx="16111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TemporalVoter 确认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38244" y="1554480"/>
            <a:ext cx="1828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475988" y="1371600"/>
            <a:ext cx="1748333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75988" y="1371600"/>
            <a:ext cx="17483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events.update 上升沿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79185" y="1554480"/>
            <a:ext cx="1828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516929" y="1371600"/>
            <a:ext cx="1596542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16929" y="1371600"/>
            <a:ext cx="1596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_play_voice 选语气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68335" y="1554480"/>
            <a:ext cx="18288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406079" y="1371600"/>
            <a:ext cx="1976018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06079" y="1371600"/>
            <a:ext cx="1976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PLAY_VOICE 0x03，曲目 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89000" y="2286000"/>
            <a:ext cx="5588000" cy="3352800"/>
          </a:xfrm>
          <a:prstGeom prst="roundRect">
            <a:avLst>
              <a:gd name="adj" fmla="val 8182"/>
            </a:avLst>
          </a:prstGeom>
          <a:solidFill>
            <a:srgbClr val="F7F8FC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54100" y="2451100"/>
            <a:ext cx="5257800" cy="3022600"/>
          </a:xfrm>
          <a:prstGeom prst="roundRect">
            <a:avLst>
              <a:gd name="adj" fmla="val 423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54100" y="2933700"/>
            <a:ext cx="5257800" cy="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4100" y="5016500"/>
            <a:ext cx="5257800" cy="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600200" y="2451100"/>
            <a:ext cx="18288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高危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4848860" y="2451100"/>
            <a:ext cx="132588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实验台小屏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91260" y="3022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待处理事项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191260" y="3276600"/>
            <a:ext cx="2148840" cy="301752"/>
          </a:xfrm>
          <a:prstGeom prst="roundRect">
            <a:avLst>
              <a:gd name="adj" fmla="val 18182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282700" y="32766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3221B"/>
                </a:solidFill>
              </a:rPr>
              <a:t>停止饮食，到实验区外进食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91260" y="3642360"/>
            <a:ext cx="2148840" cy="301752"/>
          </a:xfrm>
          <a:prstGeom prst="roundRect">
            <a:avLst>
              <a:gd name="adj" fmla="val 18182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282700" y="36423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4300"/>
                </a:solidFill>
              </a:rPr>
              <a:t>佩戴护目镜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191260" y="4008120"/>
            <a:ext cx="2148840" cy="301752"/>
          </a:xfrm>
          <a:prstGeom prst="roundRect">
            <a:avLst>
              <a:gd name="adj" fmla="val 18182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282700" y="40081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4300"/>
                </a:solidFill>
              </a:rPr>
              <a:t>佩戴口罩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191260" y="4373880"/>
            <a:ext cx="2148840" cy="301752"/>
          </a:xfrm>
          <a:prstGeom prst="roundRect">
            <a:avLst>
              <a:gd name="adj" fmla="val 18182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282700" y="43738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E4300"/>
                </a:solidFill>
              </a:rPr>
              <a:t>佩戴头罩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3568700" y="3022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热源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3568700" y="3276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未加热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4986020" y="3022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防护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986020" y="3276600"/>
            <a:ext cx="685800" cy="292608"/>
          </a:xfrm>
          <a:prstGeom prst="roundRect">
            <a:avLst>
              <a:gd name="adj" fmla="val 18750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4986020" y="32766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A3221B"/>
                </a:solidFill>
              </a:rPr>
              <a:t>护目镜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735828" y="3276600"/>
            <a:ext cx="685800" cy="292608"/>
          </a:xfrm>
          <a:prstGeom prst="roundRect">
            <a:avLst>
              <a:gd name="adj" fmla="val 1875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735828" y="32766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C6B42"/>
                </a:solidFill>
              </a:rPr>
              <a:t>实验服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986020" y="3642360"/>
            <a:ext cx="685800" cy="292608"/>
          </a:xfrm>
          <a:prstGeom prst="roundRect">
            <a:avLst>
              <a:gd name="adj" fmla="val 1875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986020" y="36423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C6B42"/>
                </a:solidFill>
              </a:rPr>
              <a:t>手套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735828" y="3642360"/>
            <a:ext cx="685800" cy="292608"/>
          </a:xfrm>
          <a:prstGeom prst="roundRect">
            <a:avLst>
              <a:gd name="adj" fmla="val 18750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5735828" y="36423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A3221B"/>
                </a:solidFill>
              </a:rPr>
              <a:t>口罩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4100" y="50165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状态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1930400" y="50165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画面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2806700" y="50165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记录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3683000" y="50165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静音 60s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4559300" y="50165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呼叫教师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5435600" y="50165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3221B"/>
                </a:solidFill>
              </a:rPr>
              <a:t>断电</a:t>
            </a:r>
            <a:endParaRPr lang="en-US" sz="1200" dirty="0"/>
          </a:p>
        </p:txBody>
      </p:sp>
      <p:sp>
        <p:nvSpPr>
          <p:cNvPr id="50" name="信号灯"/>
          <p:cNvSpPr/>
          <p:nvPr/>
        </p:nvSpPr>
        <p:spPr>
          <a:xfrm>
            <a:off x="1242822" y="2582672"/>
            <a:ext cx="219456" cy="21945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E03A32">
                <a:alpha val="55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105410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小屏界面示意，按当前小屏布局绘制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6858000" y="2540000"/>
            <a:ext cx="4445000" cy="1143000"/>
          </a:xfrm>
          <a:prstGeom prst="roundRect">
            <a:avLst>
              <a:gd name="adj" fmla="val 12800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  <a:effectLst>
            <a:outerShdw sx="100000" sy="100000" kx="0" ky="0" algn="bl" rotWithShape="0" blurRad="203200" dist="63500" dir="5400000">
              <a:srgbClr val="262E6E">
                <a:alpha val="16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7086600" y="2704592"/>
            <a:ext cx="1234440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54" name="Shape 51"/>
          <p:cNvSpPr/>
          <p:nvPr/>
        </p:nvSpPr>
        <p:spPr>
          <a:xfrm>
            <a:off x="7214616" y="2832608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7379208" y="2704592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5200"/>
                </a:solidFill>
              </a:rPr>
              <a:t>温和语气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8412480" y="270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ppe_goggles，曲目 1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086600" y="3106928"/>
            <a:ext cx="398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「同学，记得戴好护目镜哦，眼睛只有一双。」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6858000" y="4064000"/>
            <a:ext cx="4445000" cy="1143000"/>
          </a:xfrm>
          <a:prstGeom prst="roundRect">
            <a:avLst>
              <a:gd name="adj" fmla="val 12800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  <a:effectLst>
            <a:outerShdw sx="100000" sy="100000" kx="0" ky="0" algn="bl" rotWithShape="0" blurRad="203200" dist="63500" dir="5400000">
              <a:srgbClr val="262E6E">
                <a:alpha val="16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7086600" y="4228592"/>
            <a:ext cx="1234440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60" name="Shape 57"/>
          <p:cNvSpPr/>
          <p:nvPr/>
        </p:nvSpPr>
        <p:spPr>
          <a:xfrm>
            <a:off x="7214616" y="4356608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7379208" y="4228592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5200"/>
                </a:solidFill>
              </a:rPr>
              <a:t>温和语气</a:t>
            </a:r>
            <a:endParaRPr lang="en-US" sz="1400" dirty="0"/>
          </a:p>
        </p:txBody>
      </p:sp>
      <p:sp>
        <p:nvSpPr>
          <p:cNvPr id="62" name="Text 59"/>
          <p:cNvSpPr txBox="1"/>
          <p:nvPr/>
        </p:nvSpPr>
        <p:spPr>
          <a:xfrm>
            <a:off x="8412480" y="4228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eating，曲目 6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7086600" y="4630928"/>
            <a:ext cx="398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「实验区不能吃东西喝水哦，请到室外再吃。」</a:t>
            </a:r>
            <a:endParaRPr lang="en-US" sz="1800" dirty="0"/>
          </a:p>
        </p:txBody>
      </p:sp>
      <p:sp>
        <p:nvSpPr>
          <p:cNvPr id="64" name="Text 61"/>
          <p:cNvSpPr txBox="1"/>
          <p:nvPr/>
        </p:nvSpPr>
        <p:spPr>
          <a:xfrm>
            <a:off x="6858000" y="5588000"/>
            <a:ext cx="444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语气由 events._play_voice() 决定：紧急事件或交叉验证为高危时用严厉语气，其余温和；事件解除后 10 s 内再出现算同一次，不重复播报。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学生是第一用户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58952" y="14630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2"/>
                </a:solidFill>
              </a:rPr>
              <a:t>系统的首要目标是减少火灾和人身伤害，而不是记录违规。所以提醒先发给台前的学生，管理端只接收需要处理的事件。</a:t>
            </a:r>
            <a:endParaRPr lang="en-US" sz="2000" dirty="0"/>
          </a:p>
        </p:txBody>
      </p:sp>
      <p:pic>
        <p:nvPicPr>
          <p:cNvPr id="5" name="Image 0" descr="实机截图：实验台小屏，加热中无人值守、预测即将干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280160"/>
            <a:ext cx="4023360" cy="241401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406640" y="1280160"/>
            <a:ext cx="4023360" cy="2414016"/>
          </a:xfrm>
          <a:prstGeom prst="rect">
            <a:avLst/>
          </a:prstGeom>
          <a:ln w="9525">
            <a:solidFill>
              <a:srgbClr val="DDE0E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406640" y="3767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实机截图：实验台小屏，加热中无人值守、预测即将干烧</a:t>
            </a:r>
            <a:endParaRPr lang="en-US" sz="1100" dirty="0"/>
          </a:p>
        </p:txBody>
      </p:sp>
      <p:sp>
        <p:nvSpPr>
          <p:cNvPr id="8" name="信号灯"/>
          <p:cNvSpPr/>
          <p:nvPr/>
        </p:nvSpPr>
        <p:spPr>
          <a:xfrm>
            <a:off x="1177036" y="5177536"/>
            <a:ext cx="566928" cy="56692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095500" y="4206240"/>
            <a:ext cx="283464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095500" y="4389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每张实验桌一台终端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2095500" y="48920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RK3588 开发板、两路 USB 摄像头、控制盒与传感器、小屏；硬件采购估算 1000–1350 元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113020" y="4206240"/>
            <a:ext cx="283464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113020" y="4389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断网照常工作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113020" y="48920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识别、打分和断电都在本机；连不上总后台只记一条，恢复后自动重新上报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30540" y="4206240"/>
            <a:ext cx="283464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130540" y="4389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小屏按现场设计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8130540" y="48920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800×480 基准自适应，按钮 ≥ 64 px；0.5 s 刷新、不做动画，不和识别抢 CPU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第一个分叉：交叉验证打分，分三级</a:t>
            </a:r>
            <a:endParaRPr lang="en-US" sz="3200" dirty="0"/>
          </a:p>
        </p:txBody>
      </p:sp>
      <p:sp>
        <p:nvSpPr>
          <p:cNvPr id="4" name="代码块"/>
          <p:cNvSpPr/>
          <p:nvPr/>
        </p:nvSpPr>
        <p:spPr>
          <a:xfrm>
            <a:off x="758952" y="1280160"/>
            <a:ext cx="6400800" cy="3144520"/>
          </a:xfrm>
          <a:prstGeom prst="roundRect">
            <a:avLst>
              <a:gd name="adj" fmla="val 4071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41832" y="1371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assess()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src/core/cross_check.py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559552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L92–127 节选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41832" y="1737360"/>
            <a:ext cx="6035040" cy="259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"WARNING" in ev_levels: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add("规则引擎", "存在警告事件", 40)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heating and present is False: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add("人员 × 传感器", "正在加热但台前无人", 70, ...)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in missing: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PPE_NAMES[k]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heating and k in ("ppe_goggles", "ppe_gloves"):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add("人员 × 传感器", f"加热中未佩戴{name}…", 35 if boiling else 30, ...)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items and k in ("ppe_goggles", "ppe_gloves", "ppe_coat"):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add("人员 × 器皿", f"台面有器皿时未佩戴{name}", 15, ...)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heating and non_heatable: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add("器皿 × 传感器", "加热时台面有不可加热量器…", 35, ...)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wm_risk &gt;= 0.6: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add("温度预测", f"干烧风险分 {wm_risk:.2f}", 70, ...)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min(100, sum(f["points"] for f in factors))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= "high" if score &gt;= high_score else "mid" if score &gt;= mid_score else "low"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128016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输入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12801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人员、器皿、温度预测、事件等级合成的字典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06640" y="1719072"/>
            <a:ext cx="402336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06640" y="17190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输出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17190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level、score、scene、每条依据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06640" y="2157984"/>
            <a:ext cx="402336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06640" y="215798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性质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215798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纯函数，不参与断电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06640" y="2596896"/>
            <a:ext cx="402336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06640" y="259689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分界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259689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30 / 70，可按区域调整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524000" y="4572000"/>
            <a:ext cx="2743200" cy="45720"/>
          </a:xfrm>
          <a:prstGeom prst="rect">
            <a:avLst/>
          </a:prstGeom>
          <a:solidFill>
            <a:schemeClr val="accent1">
              <a:alpha val="55000"/>
            </a:schemeClr>
          </a:solidFill>
          <a:ln/>
        </p:spPr>
      </p:sp>
      <p:sp>
        <p:nvSpPr>
          <p:cNvPr id="20" name="Shape 17"/>
          <p:cNvSpPr/>
          <p:nvPr/>
        </p:nvSpPr>
        <p:spPr>
          <a:xfrm>
            <a:off x="4267200" y="4572000"/>
            <a:ext cx="3657600" cy="45720"/>
          </a:xfrm>
          <a:prstGeom prst="rect">
            <a:avLst/>
          </a:prstGeom>
          <a:solidFill>
            <a:schemeClr val="accent2">
              <a:alpha val="55000"/>
            </a:schemeClr>
          </a:solidFill>
          <a:ln/>
        </p:spPr>
      </p:sp>
      <p:sp>
        <p:nvSpPr>
          <p:cNvPr id="21" name="Shape 18"/>
          <p:cNvSpPr/>
          <p:nvPr/>
        </p:nvSpPr>
        <p:spPr>
          <a:xfrm>
            <a:off x="7924800" y="4572000"/>
            <a:ext cx="2743200" cy="45720"/>
          </a:xfrm>
          <a:prstGeom prst="rect">
            <a:avLst/>
          </a:prstGeom>
          <a:solidFill>
            <a:schemeClr val="accent3">
              <a:alpha val="55000"/>
            </a:scheme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58240" y="4663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901440" y="4663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559040" y="4663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302240" y="4663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100" dirty="0"/>
          </a:p>
        </p:txBody>
      </p:sp>
      <p:sp>
        <p:nvSpPr>
          <p:cNvPr id="26" name="信号灯"/>
          <p:cNvSpPr/>
          <p:nvPr/>
        </p:nvSpPr>
        <p:spPr>
          <a:xfrm>
            <a:off x="2785872" y="4481322"/>
            <a:ext cx="219456" cy="21945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27" name="信号灯"/>
          <p:cNvSpPr/>
          <p:nvPr/>
        </p:nvSpPr>
        <p:spPr>
          <a:xfrm>
            <a:off x="7357872" y="4481322"/>
            <a:ext cx="219456" cy="21945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EC9808">
                <a:alpha val="55000"/>
              </a:srgbClr>
            </a:outerShdw>
          </a:effectLst>
        </p:spPr>
      </p:sp>
      <p:sp>
        <p:nvSpPr>
          <p:cNvPr id="28" name="信号灯"/>
          <p:cNvSpPr/>
          <p:nvPr/>
        </p:nvSpPr>
        <p:spPr>
          <a:xfrm>
            <a:off x="10558272" y="4481322"/>
            <a:ext cx="219456" cy="21945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E03A32">
                <a:alpha val="5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524000" y="4983480"/>
            <a:ext cx="2794000" cy="118872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688592" y="5102352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1" name="Shape 28"/>
          <p:cNvSpPr/>
          <p:nvPr/>
        </p:nvSpPr>
        <p:spPr>
          <a:xfrm>
            <a:off x="1816608" y="5230368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981200" y="510235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C6B42"/>
                </a:solidFill>
              </a:rPr>
              <a:t>低危　15 分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688592" y="5504688"/>
            <a:ext cx="2464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未加热，整理器皿时未戴手套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688592" y="5833872"/>
            <a:ext cx="246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台面有器皿时未佩戴手套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699000" y="4983480"/>
            <a:ext cx="2794000" cy="118872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63592" y="5102352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7" name="Shape 34"/>
          <p:cNvSpPr/>
          <p:nvPr/>
        </p:nvSpPr>
        <p:spPr>
          <a:xfrm>
            <a:off x="4991608" y="5230368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156200" y="510235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5200"/>
                </a:solidFill>
              </a:rPr>
              <a:t>中危　65 分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4863592" y="5504688"/>
            <a:ext cx="2464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加热中有量筒，未戴护目镜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4863592" y="5833872"/>
            <a:ext cx="246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量器被加热 + 30 未戴护目镜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874000" y="4983480"/>
            <a:ext cx="2794000" cy="118872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038592" y="5102352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43" name="Shape 40"/>
          <p:cNvSpPr/>
          <p:nvPr/>
        </p:nvSpPr>
        <p:spPr>
          <a:xfrm>
            <a:off x="8166608" y="5230368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331200" y="510235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3221B"/>
                </a:solidFill>
              </a:rPr>
              <a:t>高危　100 分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8038592" y="5504688"/>
            <a:ext cx="2464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越过沸点仍在升温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8038592" y="5833872"/>
            <a:ext cx="246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 干烧风险 + 40 警告，封顶 100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断电只看规则；温度预测只负责提前预警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58952" y="1325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编号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条件（config.yaml → rules）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结果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58952" y="1645920"/>
            <a:ext cx="5577840" cy="0"/>
          </a:xfrm>
          <a:prstGeom prst="line">
            <a:avLst/>
          </a:prstGeom>
          <a:noFill/>
          <a:ln w="6350">
            <a:solidFill>
              <a:srgbClr val="DD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" y="164592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645920"/>
            <a:ext cx="3611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热源 ≥ 120℃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645920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3221B"/>
                </a:solidFill>
              </a:rPr>
              <a:t>紧急，断电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8952" y="2039112"/>
            <a:ext cx="5577840" cy="0"/>
          </a:xfrm>
          <a:prstGeom prst="line">
            <a:avLst/>
          </a:prstGeom>
          <a:noFill/>
          <a:ln w="6350">
            <a:solidFill>
              <a:srgbClr val="DD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" y="203911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2039112"/>
            <a:ext cx="3611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≥ 80℃ 且升温 ≥ 2℃/s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2039112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A5200"/>
                </a:solidFill>
              </a:rPr>
              <a:t>警告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58952" y="2432304"/>
            <a:ext cx="5577840" cy="0"/>
          </a:xfrm>
          <a:prstGeom prst="line">
            <a:avLst/>
          </a:prstGeom>
          <a:noFill/>
          <a:ln w="6350">
            <a:solidFill>
              <a:srgbClr val="DDE0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8952" y="243230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2432304"/>
            <a:ext cx="3611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加热中（≥ 50℃）无人，持续 60 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432304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3221B"/>
                </a:solidFill>
              </a:rPr>
              <a:t>警告 → 断电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58952" y="2825496"/>
            <a:ext cx="5577840" cy="0"/>
          </a:xfrm>
          <a:prstGeom prst="line">
            <a:avLst/>
          </a:prstGeom>
          <a:noFill/>
          <a:ln w="6350">
            <a:solidFill>
              <a:srgbClr val="DDE0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952" y="282549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2825496"/>
            <a:ext cx="3611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无测温 + 可加热器皿 + 无人 + 环境 &gt; 55℃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937760" y="2825496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3221B"/>
                </a:solidFill>
              </a:rPr>
              <a:t>紧急，断电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58952" y="3218688"/>
            <a:ext cx="5577840" cy="0"/>
          </a:xfrm>
          <a:prstGeom prst="line">
            <a:avLst/>
          </a:prstGeom>
          <a:noFill/>
          <a:ln w="6350">
            <a:solidFill>
              <a:srgbClr val="DDE0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8952" y="3218688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R5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3218688"/>
            <a:ext cx="3611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烟雾读数 ≥ 1800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937760" y="3218688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A3221B"/>
                </a:solidFill>
              </a:rPr>
              <a:t>紧急，断电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58952" y="3611880"/>
            <a:ext cx="5577840" cy="0"/>
          </a:xfrm>
          <a:prstGeom prst="line">
            <a:avLst/>
          </a:prstGeom>
          <a:noFill/>
          <a:ln w="6350">
            <a:solidFill>
              <a:srgbClr val="DDE0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58952" y="361188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R6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3611880"/>
            <a:ext cx="3611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湿度 &gt; 80%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937760" y="3611880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A5200"/>
                </a:solidFill>
              </a:rPr>
              <a:t>警告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58952" y="4005072"/>
            <a:ext cx="5577840" cy="0"/>
          </a:xfrm>
          <a:prstGeom prst="line">
            <a:avLst/>
          </a:prstGeom>
          <a:noFill/>
          <a:ln w="6350">
            <a:solidFill>
              <a:srgbClr val="DDE0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58952" y="40050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R7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280160" y="4005072"/>
            <a:ext cx="3611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环境温度 &gt; 40℃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937760" y="4005072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A5200"/>
                </a:solidFill>
              </a:rPr>
              <a:t>警告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58952" y="4398264"/>
            <a:ext cx="5577840" cy="0"/>
          </a:xfrm>
          <a:prstGeom prst="line">
            <a:avLst/>
          </a:prstGeom>
          <a:noFill/>
          <a:ln w="6350">
            <a:solidFill>
              <a:srgbClr val="DDE0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58952" y="439826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R8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280160" y="4398264"/>
            <a:ext cx="3611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加热中台面有容量瓶、量筒等量器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4937760" y="4398264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提醒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758952" y="4791456"/>
            <a:ext cx="5577840" cy="0"/>
          </a:xfrm>
          <a:prstGeom prst="line">
            <a:avLst/>
          </a:prstGeom>
          <a:noFill/>
          <a:ln w="6350">
            <a:solidFill>
              <a:srgbClr val="DDE0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58952" y="479145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R9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1280160" y="4791456"/>
            <a:ext cx="3611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越过沸点仍升温，预计 ≤ 90 s 到 120℃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4937760" y="4791456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A5200"/>
                </a:solidFill>
              </a:rPr>
              <a:t>警告，不断电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758952" y="53035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每条规则写成 add(kind, level, title, message, cut=…)，只有 cut=True 的规则会下发断电。</a:t>
            </a:r>
            <a:endParaRPr lang="en-US" sz="1100" dirty="0"/>
          </a:p>
        </p:txBody>
      </p:sp>
      <p:sp>
        <p:nvSpPr>
          <p:cNvPr id="44" name="代码块"/>
          <p:cNvSpPr/>
          <p:nvPr/>
        </p:nvSpPr>
        <p:spPr>
          <a:xfrm>
            <a:off x="6537960" y="1325880"/>
            <a:ext cx="4892040" cy="2960370"/>
          </a:xfrm>
          <a:prstGeom prst="roundRect">
            <a:avLst>
              <a:gd name="adj" fmla="val 4324"/>
            </a:avLst>
          </a:prstGeom>
          <a:solidFill>
            <a:schemeClr val="accent5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720840" y="1417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_predict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src/core/world_model.py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9829800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L130–176 节选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720840" y="1783080"/>
            <a:ext cx="4526280" cy="2411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一阶模型 dT/dt = α + β·T，β = -1/τ，T∞ = -α/β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秒分箱后差分求导，抑制噪声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len(d_t) &gt;= 4 and slope &gt; 0.02 and not beyond_boil: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lf = self._linfit(d_t, d_v)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lf is not None: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beta, alpha = lf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beta &lt; -1e-4: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t_inf_c = -alpha / beta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tau_c = -1.0 / beta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temp &lt; boil_hi:   # 低于沸点：液体还在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eta_boil = time_to(boil_lo) if temp &lt; boil_lo else None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              # 越过沸点仍升温：可能已烧干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eta = time_to(dry_c)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6537960" y="45262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拟合窗口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7543800" y="452628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最近 60 s；越过沸点后只用最近 15 s 外推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537960" y="4965192"/>
            <a:ext cx="489204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537960" y="49651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沸腾平台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7543800" y="496519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92–104℃ 且 15 s 斜率 &lt; 0.05℃/s</a:t>
            </a:r>
            <a:endParaRPr lang="en-US" sz="1200" dirty="0"/>
          </a:p>
        </p:txBody>
      </p:sp>
      <p:sp>
        <p:nvSpPr>
          <p:cNvPr id="53" name="信号灯"/>
          <p:cNvSpPr/>
          <p:nvPr/>
        </p:nvSpPr>
        <p:spPr>
          <a:xfrm>
            <a:off x="6703060" y="1235710"/>
            <a:ext cx="182880" cy="18288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EC9808">
                <a:alpha val="55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第二个分叉：同一事件，三层各自定级</a:t>
            </a:r>
            <a:endParaRPr lang="en-US" sz="3200" dirty="0"/>
          </a:p>
        </p:txBody>
      </p:sp>
      <p:sp>
        <p:nvSpPr>
          <p:cNvPr id="4" name="信号灯"/>
          <p:cNvSpPr/>
          <p:nvPr/>
        </p:nvSpPr>
        <p:spPr>
          <a:xfrm>
            <a:off x="5469128" y="1544828"/>
            <a:ext cx="237744" cy="23774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E03A32">
                <a:alpha val="5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490720" y="1905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学生端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490720" y="2252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语音提示、小屏</a:t>
            </a:r>
            <a:endParaRPr lang="en-US" sz="1200" dirty="0"/>
          </a:p>
        </p:txBody>
      </p:sp>
      <p:sp>
        <p:nvSpPr>
          <p:cNvPr id="7" name="信号灯"/>
          <p:cNvSpPr/>
          <p:nvPr/>
        </p:nvSpPr>
        <p:spPr>
          <a:xfrm>
            <a:off x="7710678" y="1544828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EC9808">
                <a:alpha val="5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732270" y="1905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实验室老师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732270" y="2252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处置队列、群消息</a:t>
            </a:r>
            <a:endParaRPr lang="en-US" sz="1200" dirty="0"/>
          </a:p>
        </p:txBody>
      </p:sp>
      <p:sp>
        <p:nvSpPr>
          <p:cNvPr id="10" name="信号灯"/>
          <p:cNvSpPr/>
          <p:nvPr/>
        </p:nvSpPr>
        <p:spPr>
          <a:xfrm>
            <a:off x="9952228" y="1544828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973820" y="1905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实验楼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973820" y="2252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处置队列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8952" y="2540000"/>
            <a:ext cx="3200400" cy="54864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2540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摘口罩、吃苹果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929632" y="2640584"/>
            <a:ext cx="1325880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6" name="Shape 13"/>
          <p:cNvSpPr/>
          <p:nvPr/>
        </p:nvSpPr>
        <p:spPr>
          <a:xfrm>
            <a:off x="5057648" y="2768600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22240" y="2640584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3221B"/>
                </a:solidFill>
              </a:rPr>
              <a:t>严厉干预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71182" y="2640584"/>
            <a:ext cx="1325880" cy="347472"/>
          </a:xfrm>
          <a:prstGeom prst="roundRect">
            <a:avLst>
              <a:gd name="adj" fmla="val 2105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9" name="Shape 16"/>
          <p:cNvSpPr/>
          <p:nvPr/>
        </p:nvSpPr>
        <p:spPr>
          <a:xfrm>
            <a:off x="7299198" y="27686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63790" y="2640584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C6B42"/>
                </a:solidFill>
              </a:rPr>
              <a:t>仅记录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412732" y="2640584"/>
            <a:ext cx="1325880" cy="347472"/>
          </a:xfrm>
          <a:prstGeom prst="roundRect">
            <a:avLst>
              <a:gd name="adj" fmla="val 2105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2" name="Shape 19"/>
          <p:cNvSpPr/>
          <p:nvPr/>
        </p:nvSpPr>
        <p:spPr>
          <a:xfrm>
            <a:off x="9540748" y="27686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705340" y="2640584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C6B42"/>
                </a:solidFill>
              </a:rPr>
              <a:t>无需介入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58952" y="3225800"/>
            <a:ext cx="3200400" cy="54864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0120" y="3225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加热时台面有量筒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929632" y="3326384"/>
            <a:ext cx="1325880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7" name="Shape 24"/>
          <p:cNvSpPr/>
          <p:nvPr/>
        </p:nvSpPr>
        <p:spPr>
          <a:xfrm>
            <a:off x="5057648" y="3454400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222240" y="3326384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5200"/>
                </a:solidFill>
              </a:rPr>
              <a:t>温和提醒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171182" y="3326384"/>
            <a:ext cx="1325880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0" name="Shape 27"/>
          <p:cNvSpPr/>
          <p:nvPr/>
        </p:nvSpPr>
        <p:spPr>
          <a:xfrm>
            <a:off x="7299198" y="3454400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463790" y="3326384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5200"/>
                </a:solidFill>
              </a:rPr>
              <a:t>需关注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412732" y="3326384"/>
            <a:ext cx="1325880" cy="347472"/>
          </a:xfrm>
          <a:prstGeom prst="roundRect">
            <a:avLst>
              <a:gd name="adj" fmla="val 21053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3" name="Shape 30"/>
          <p:cNvSpPr/>
          <p:nvPr/>
        </p:nvSpPr>
        <p:spPr>
          <a:xfrm>
            <a:off x="9540748" y="34544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705340" y="3326384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C6B42"/>
                </a:solidFill>
              </a:rPr>
              <a:t>无需介入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58952" y="3911600"/>
            <a:ext cx="3200400" cy="54864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0120" y="391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越过沸点仍升温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4929632" y="4012184"/>
            <a:ext cx="1325880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38" name="Shape 35"/>
          <p:cNvSpPr/>
          <p:nvPr/>
        </p:nvSpPr>
        <p:spPr>
          <a:xfrm>
            <a:off x="5057648" y="4140200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222240" y="4012184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3221B"/>
                </a:solidFill>
              </a:rPr>
              <a:t>严厉干预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7171182" y="4012184"/>
            <a:ext cx="1325880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41" name="Shape 38"/>
          <p:cNvSpPr/>
          <p:nvPr/>
        </p:nvSpPr>
        <p:spPr>
          <a:xfrm>
            <a:off x="7299198" y="4140200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463790" y="4012184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3221B"/>
                </a:solidFill>
              </a:rPr>
              <a:t>立即处置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9412732" y="4012184"/>
            <a:ext cx="1325880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44" name="Shape 41"/>
          <p:cNvSpPr/>
          <p:nvPr/>
        </p:nvSpPr>
        <p:spPr>
          <a:xfrm>
            <a:off x="9540748" y="4140200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9705340" y="4012184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5200"/>
                </a:solidFill>
              </a:rPr>
              <a:t>关注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758952" y="4597400"/>
            <a:ext cx="3200400" cy="54864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60120" y="459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断电锁定、烟雾超标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4929632" y="4697984"/>
            <a:ext cx="1325880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49" name="Shape 46"/>
          <p:cNvSpPr/>
          <p:nvPr/>
        </p:nvSpPr>
        <p:spPr>
          <a:xfrm>
            <a:off x="5057648" y="4826000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222240" y="4697984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3221B"/>
                </a:solidFill>
              </a:rPr>
              <a:t>严厉干预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171182" y="4697984"/>
            <a:ext cx="1325880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52" name="Shape 49"/>
          <p:cNvSpPr/>
          <p:nvPr/>
        </p:nvSpPr>
        <p:spPr>
          <a:xfrm>
            <a:off x="7299198" y="4826000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7463790" y="4697984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3221B"/>
                </a:solidFill>
              </a:rPr>
              <a:t>立即处置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9412732" y="4697984"/>
            <a:ext cx="1325880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55" name="Shape 52"/>
          <p:cNvSpPr/>
          <p:nvPr/>
        </p:nvSpPr>
        <p:spPr>
          <a:xfrm>
            <a:off x="9540748" y="4826000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9705340" y="4697984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3221B"/>
                </a:solidFill>
              </a:rPr>
              <a:t>需介入</a:t>
            </a:r>
            <a:endParaRPr lang="en-US" sz="1400" dirty="0"/>
          </a:p>
        </p:txBody>
      </p:sp>
      <p:sp>
        <p:nvSpPr>
          <p:cNvPr id="57" name="Text 54"/>
          <p:cNvSpPr txBox="1"/>
          <p:nvPr/>
        </p:nvSpPr>
        <p:spPr>
          <a:xfrm>
            <a:off x="758952" y="57785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学生端计入全部因子；实验室老师只计入加热、温度、烟雾、断电和学生呼叫，行为违规仅作知会；实验楼只计入断电锁定和紧急事件。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分层上报的实现：同一份打分，三次过滤</a:t>
            </a:r>
            <a:endParaRPr lang="en-US" sz="3200" dirty="0"/>
          </a:p>
        </p:txBody>
      </p:sp>
      <p:sp>
        <p:nvSpPr>
          <p:cNvPr id="4" name="代码块"/>
          <p:cNvSpPr/>
          <p:nvPr/>
        </p:nvSpPr>
        <p:spPr>
          <a:xfrm>
            <a:off x="758952" y="1463040"/>
            <a:ext cx="6812280" cy="3954780"/>
          </a:xfrm>
          <a:prstGeom prst="roundRect">
            <a:avLst>
              <a:gd name="adj" fmla="val 3237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41832" y="15544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tiers()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src/core/cross_check.py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71032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L166–191 节选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41832" y="1920240"/>
            <a:ext cx="6446520" cy="3406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实验室老师 ----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reasons = [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{"text": f["text"], "points": f["points"]} for f in r["factors"]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f["source"] not in BEHAVIOR_SOURCES and f["source"] != "规则引擎"]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latched: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reasons.append({"text": "已断电锁定，需到场排查", "points": 100})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"CRITICAL" in hz: ...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"WARNING" in hz: ...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d.get("called"):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reasons.append({"text": "学生在终端上呼叫教师", "points": 40})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t_level = _level(t_score, mid_score, high_score)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= [f["text"] for f in r["factors"] if f["source"] in BEHAVIOR_SOURCES]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实验楼 ----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latched or "CRITICAL" in hz: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b_level = "high"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t_level == "high":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b_level = "mid"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4630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学生端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14630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全部因子，即 risk.level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1901952"/>
            <a:ext cx="365760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190195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实验室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190195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去掉行为因子；hz 只含安全规则事件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0" y="2340864"/>
            <a:ext cx="365760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0" y="23408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实验楼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234086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只看断电锁定与紧急事件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30175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三层等级随快照字段 risk.tiers 上报；总后台按账号角色选默认视角，旧版终端没有该字段时有兜底。分层只影响上报，不参与断电。</a:t>
            </a:r>
            <a:endParaRPr lang="en-US" sz="1500" dirty="0"/>
          </a:p>
        </p:txBody>
      </p:sp>
      <p:sp>
        <p:nvSpPr>
          <p:cNvPr id="17" name="信号灯"/>
          <p:cNvSpPr/>
          <p:nvPr/>
        </p:nvSpPr>
        <p:spPr>
          <a:xfrm>
            <a:off x="7274560" y="1432560"/>
            <a:ext cx="182880" cy="18288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EC9808">
                <a:alpha val="55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安全助手：只读，只建议</a:t>
            </a:r>
            <a:endParaRPr lang="en-US" sz="3200" dirty="0"/>
          </a:p>
        </p:txBody>
      </p:sp>
      <p:pic>
        <p:nvPicPr>
          <p:cNvPr id="4" name="Image 0" descr="事件卡片：预测即将干烧，附处理建议的原因、处置和手册依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17320"/>
            <a:ext cx="4343400" cy="406166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58952" y="1417320"/>
            <a:ext cx="4343400" cy="4061666"/>
          </a:xfrm>
          <a:prstGeom prst="rect">
            <a:avLst/>
          </a:prstGeom>
          <a:ln w="9525">
            <a:solidFill>
              <a:srgbClr val="DDE0E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58952" y="555213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实机截图：本机控制台事件卡片，处理建议由规则模板生成</a:t>
            </a:r>
            <a:endParaRPr lang="en-US" sz="1100" dirty="0"/>
          </a:p>
        </p:txBody>
      </p:sp>
      <p:sp>
        <p:nvSpPr>
          <p:cNvPr id="7" name="信号灯"/>
          <p:cNvSpPr/>
          <p:nvPr/>
        </p:nvSpPr>
        <p:spPr>
          <a:xfrm>
            <a:off x="5623560" y="1369060"/>
            <a:ext cx="182880" cy="18288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EC9808">
                <a:alpha val="5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5852160" y="150876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读取交叉验证结果和安全手册（BM25 检索），生成原因、步骤和条款引用。工具表只有 5 个只读工具，没有任何电源控制接口。</a:t>
            </a:r>
            <a:endParaRPr lang="en-US" sz="1800" dirty="0"/>
          </a:p>
        </p:txBody>
      </p:sp>
      <p:sp>
        <p:nvSpPr>
          <p:cNvPr id="9" name="代码块"/>
          <p:cNvSpPr/>
          <p:nvPr/>
        </p:nvSpPr>
        <p:spPr>
          <a:xfrm>
            <a:off x="5852160" y="2743200"/>
            <a:ext cx="5577840" cy="1929130"/>
          </a:xfrm>
          <a:prstGeom prst="roundRect">
            <a:avLst>
              <a:gd name="adj" fmla="val 6636"/>
            </a:avLst>
          </a:prstGeom>
          <a:solidFill>
            <a:schemeClr val="accent5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03504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TOOLS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src/agent/agent.py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9829800" y="2834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L47–66 节选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035040" y="3200400"/>
            <a:ext cx="5212080" cy="138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                       # 全部只读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"get_status", ...},           # 状态、遥测、锁定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"get_risk_assessment", ...},  # 交叉验证结果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"get_recent_events", ...},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"get_forecast", ...},         # 温度预测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"search_manual", ...},        # 手册检索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852160" y="4800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线路 agent.route = auto：远程通义千问 → 本地 Ollama；都不可用时退回规则模板。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最后一道防线：只断不通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16000" y="1905000"/>
            <a:ext cx="1905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16000" y="2014728"/>
            <a:ext cx="190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开发板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016000" y="2380488"/>
            <a:ext cx="190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规则判定需断电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048000" y="2343912"/>
            <a:ext cx="196850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3048000" y="1978152"/>
            <a:ext cx="1968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POWER_OFF 0x02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143500" y="1905000"/>
            <a:ext cx="1905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43500" y="2014728"/>
            <a:ext cx="190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控制盒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5143500" y="2380488"/>
            <a:ext cx="190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ESP32-S3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75500" y="2343912"/>
            <a:ext cx="196850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7175500" y="1978152"/>
            <a:ext cx="1968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断开继电器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271000" y="1905000"/>
            <a:ext cx="1905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71000" y="2014728"/>
            <a:ext cx="190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加热电源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9271000" y="2380488"/>
            <a:ext cx="190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已断开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" y="2794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控制盒回 ACK；0.25 s 未收到则重发，最多发送 3 次。真机实测 ACK 往返时延中位数 4.9 ms。</a:t>
            </a:r>
            <a:endParaRPr lang="en-US" sz="1300" dirty="0"/>
          </a:p>
        </p:txBody>
      </p:sp>
      <p:pic>
        <p:nvPicPr>
          <p:cNvPr id="18" name="Image 0" descr="实机截图：小屏断电锁定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3429000"/>
            <a:ext cx="3108960" cy="186537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16000" y="3429000"/>
            <a:ext cx="3108960" cy="1865376"/>
          </a:xfrm>
          <a:prstGeom prst="rect">
            <a:avLst/>
          </a:prstGeom>
          <a:ln w="9525">
            <a:solidFill>
              <a:srgbClr val="DDE0E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16000" y="5367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实机截图：小屏断电锁定页</a:t>
            </a:r>
            <a:endParaRPr lang="en-US" sz="1100" dirty="0"/>
          </a:p>
        </p:txBody>
      </p:sp>
      <p:sp>
        <p:nvSpPr>
          <p:cNvPr id="21" name="加热电源指示"/>
          <p:cNvSpPr/>
          <p:nvPr/>
        </p:nvSpPr>
        <p:spPr>
          <a:xfrm>
            <a:off x="10122916" y="1804416"/>
            <a:ext cx="201168" cy="201168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969DB8">
                <a:alpha val="5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0" y="3429000"/>
            <a:ext cx="320040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开发板规则（可按区域调整）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0" y="386791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R1 热源 ≥ 120℃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R3 加热中无人 60 s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R5 烟雾读数 ≥ 1800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8001000" y="3429000"/>
            <a:ext cx="320040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00100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控制盒本地硬规则（写在固件里）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8001000" y="386791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热源 ≥ 150℃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烟雾读数 ≥ 2500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心跳中断 30 s 且热源 &gt; 60℃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572000" y="5080000"/>
            <a:ext cx="658368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572000" y="5262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恢复供电</a:t>
            </a:r>
            <a:endParaRPr lang="en-US" sz="2000" dirty="0"/>
          </a:p>
        </p:txBody>
      </p:sp>
      <p:sp>
        <p:nvSpPr>
          <p:cNvPr id="30" name="Text 26"/>
          <p:cNvSpPr txBox="1"/>
          <p:nvPr/>
        </p:nvSpPr>
        <p:spPr>
          <a:xfrm>
            <a:off x="5943600" y="52628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软件和总后台都没有通电接口。复电只能在现场长按控制键 2 秒，控制盒先复查温度和烟雾，超标则拒绝。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程序卡死也能断电：心跳由安全判断驱动</a:t>
            </a:r>
            <a:endParaRPr lang="en-US" sz="3200" dirty="0"/>
          </a:p>
        </p:txBody>
      </p:sp>
      <p:sp>
        <p:nvSpPr>
          <p:cNvPr id="4" name="代码块"/>
          <p:cNvSpPr/>
          <p:nvPr/>
        </p:nvSpPr>
        <p:spPr>
          <a:xfrm>
            <a:off x="758952" y="1389888"/>
            <a:ext cx="5623560" cy="2868295"/>
          </a:xfrm>
          <a:prstGeom prst="roundRect">
            <a:avLst>
              <a:gd name="adj" fmla="val 4463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41832" y="14813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① R3 加热中无人值守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src/core/state_machine.py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782312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L250–260 节选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41832" y="1847088"/>
            <a:ext cx="5257800" cy="2319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cut_s = rules("unattended_heating_cut_s", 60.0)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heating and macro_unattended: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self._unattended_heat_since is None: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self._unattended_heat_since = now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dur = now - self._unattended_heat_since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dur &gt;= cut_s: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add("unattended_heating", "CRITICAL",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"加热中无人值守超时", ..., cut=True)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add("unattended_heating", "WARNING",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"加热中无人值守", ...)</a:t>
            </a:r>
            <a:endParaRPr lang="en-US" sz="1100" dirty="0"/>
          </a:p>
        </p:txBody>
      </p:sp>
      <p:sp>
        <p:nvSpPr>
          <p:cNvPr id="8" name="代码块"/>
          <p:cNvSpPr/>
          <p:nvPr/>
        </p:nvSpPr>
        <p:spPr>
          <a:xfrm>
            <a:off x="6583680" y="1389888"/>
            <a:ext cx="4846320" cy="2868295"/>
          </a:xfrm>
          <a:prstGeom prst="roundRect">
            <a:avLst>
              <a:gd name="adj" fmla="val 4463"/>
            </a:avLst>
          </a:prstGeom>
          <a:solidFill>
            <a:schemeClr val="accent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② 只有判断跑完才喂心跳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serial_comm.py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829800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L375–381 节选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1847088"/>
            <a:ext cx="4480560" cy="2319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feed(self):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self._last_feed = time.time()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@property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engine_alive(self) -&gt; bool: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time.time() - self._last_feed \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 self.engine_stale_s        # 5 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发送线程（L421）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self.engine_alive and (...):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发出 HEARTBEAT</a:t>
            </a:r>
            <a:endParaRPr lang="en-US" sz="1100" dirty="0"/>
          </a:p>
        </p:txBody>
      </p:sp>
      <p:sp>
        <p:nvSpPr>
          <p:cNvPr id="12" name="代码块"/>
          <p:cNvSpPr/>
          <p:nvPr/>
        </p:nvSpPr>
        <p:spPr>
          <a:xfrm>
            <a:off x="758952" y="4526280"/>
            <a:ext cx="10671048" cy="1450340"/>
          </a:xfrm>
          <a:prstGeom prst="roundRect">
            <a:avLst>
              <a:gd name="adj" fmla="val 8827"/>
            </a:avLst>
          </a:prstGeom>
          <a:solidFill>
            <a:schemeClr val="accent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41832" y="4617720"/>
            <a:ext cx="8933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③ 控制盒：心跳中断 30 s 且热源 &gt; 60℃，本地断电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firmware/lab_guard_esp32/lab_guard_esp32.ino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829800" y="4617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L254–257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" y="4983480"/>
            <a:ext cx="10305288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(mlxOk &amp;&amp; !isnan(objC) &amp;&amp; objC &gt;= HARD_LIMIT_C) cutPower(CUT_OVERTEMP, EV_LOCAL_OVERTEMP);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(smokeReady() &amp;&amp; smokeRaw &gt;= SMOKE_LIMIT_RAW)   cutPower(CUT_SMOKE, EV_LOCAL_SMOKE);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hot = !mlxOk || isnan(objC) || objC &gt; WATCHDOG_HOT_C;   // 测不到温度时按"可能很热"保守处理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(relayOn &amp;&amp; millis() - lastHb &gt; WATCHDOG_CUT_MS &amp;&amp; hot) cutPower(CUT_WATCHDOG, EV_WATCHDOG);</a:t>
            </a:r>
            <a:endParaRPr lang="en-US" sz="1100" dirty="0"/>
          </a:p>
        </p:txBody>
      </p:sp>
      <p:sp>
        <p:nvSpPr>
          <p:cNvPr id="16" name="信号灯"/>
          <p:cNvSpPr/>
          <p:nvPr/>
        </p:nvSpPr>
        <p:spPr>
          <a:xfrm>
            <a:off x="924560" y="4493260"/>
            <a:ext cx="182880" cy="18288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E03A32">
                <a:alpha val="55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串口协议：定长帧头 + CRC16 + ACK 重发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58952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示例：POWER_OFF 指令，原因码 4（执行上位机断电），115200 波特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58952" y="1664208"/>
            <a:ext cx="886968" cy="758952"/>
          </a:xfrm>
          <a:prstGeom prst="roundRect">
            <a:avLst>
              <a:gd name="adj" fmla="val 9639"/>
            </a:avLst>
          </a:prstGeom>
          <a:solidFill>
            <a:srgbClr val="F4F6FB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" y="1700784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58952" y="21031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帧头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721815" y="1664208"/>
            <a:ext cx="886968" cy="758952"/>
          </a:xfrm>
          <a:prstGeom prst="roundRect">
            <a:avLst>
              <a:gd name="adj" fmla="val 9639"/>
            </a:avLst>
          </a:prstGeom>
          <a:solidFill>
            <a:srgbClr val="F4F6FB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21815" y="1700784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721815" y="21031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帧头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84678" y="1664208"/>
            <a:ext cx="886968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84678" y="1700784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2684678" y="21031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LEN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47542" y="1664208"/>
            <a:ext cx="886968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47542" y="1700784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2A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3647542" y="21031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SEQ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10405" y="1664208"/>
            <a:ext cx="886968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10405" y="1700784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4610405" y="21031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CMD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73268" y="1664208"/>
            <a:ext cx="139903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73268" y="1700784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5573268" y="2103120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PAYLOAD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048195" y="1664208"/>
            <a:ext cx="886968" cy="758952"/>
          </a:xfrm>
          <a:prstGeom prst="roundRect">
            <a:avLst>
              <a:gd name="adj" fmla="val 9639"/>
            </a:avLst>
          </a:prstGeom>
          <a:solidFill>
            <a:srgbClr val="EBEDF7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48195" y="1700784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7048195" y="21031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CRC 低字节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011058" y="1664208"/>
            <a:ext cx="886968" cy="758952"/>
          </a:xfrm>
          <a:prstGeom prst="roundRect">
            <a:avLst>
              <a:gd name="adj" fmla="val 9639"/>
            </a:avLst>
          </a:prstGeom>
          <a:solidFill>
            <a:srgbClr val="EBEDF7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11058" y="1700784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8011058" y="21031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CRC 高字节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684678" y="2542032"/>
            <a:ext cx="4287622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684678" y="2606040"/>
            <a:ext cx="42876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CRC16-CCITT 覆盖范围</a:t>
            </a:r>
            <a:endParaRPr lang="en-US" sz="1200" dirty="0"/>
          </a:p>
        </p:txBody>
      </p:sp>
      <p:sp>
        <p:nvSpPr>
          <p:cNvPr id="31" name="信号灯"/>
          <p:cNvSpPr/>
          <p:nvPr/>
        </p:nvSpPr>
        <p:spPr>
          <a:xfrm>
            <a:off x="5229860" y="1572260"/>
            <a:ext cx="182880" cy="18288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E03A32">
                <a:alpha val="55000"/>
              </a:srgbClr>
            </a:outerShdw>
          </a:effectLst>
        </p:spPr>
      </p:sp>
      <p:sp>
        <p:nvSpPr>
          <p:cNvPr id="32" name="代码块"/>
          <p:cNvSpPr/>
          <p:nvPr/>
        </p:nvSpPr>
        <p:spPr>
          <a:xfrm>
            <a:off x="758952" y="3063240"/>
            <a:ext cx="5715000" cy="3034030"/>
          </a:xfrm>
          <a:prstGeom prst="roundRect">
            <a:avLst>
              <a:gd name="adj" fmla="val 4219"/>
            </a:avLst>
          </a:prstGeom>
          <a:solidFill>
            <a:schemeClr val="accent5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41832" y="3154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帧构造与校验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LabSafetyMonitor/serial_comm.py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873752" y="3154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L105–118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941832" y="3520440"/>
            <a:ext cx="5349240" cy="248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crc16_ccitt(data: bytes, crc: int = 0xFFFF) -&gt; int: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b in data: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crc ^= b &lt;&lt; 8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_ in range(8):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crc &amp; 0x8000: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crc = ((crc &lt;&lt; 1) ^ 0x1021) &amp; 0xFFFF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crc = (crc &lt;&lt; 1) &amp; 0xFFFF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crc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build_frame(seq: int, cmd: int, payload: bytes = b"") -&gt; bytes: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 = bytes([len(payload), seq &amp; 0xFF, cmd]) + payload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HEADER + body + struct.pack("&lt;H", crc16_ccitt(body))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812280" y="306324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ACK 超时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046720" y="30632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ACK_TIMEOUT_S = 0.25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6812280" y="3502152"/>
            <a:ext cx="461772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812280" y="3502152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最多发送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8046720" y="350215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ACK_MAX_TRIES = 3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6812280" y="3941064"/>
            <a:ext cx="461772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812280" y="3941064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结果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8046720" y="39410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power_off_state 记录是否被确认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6812280" y="4379976"/>
            <a:ext cx="461772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812280" y="4379976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一致性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8046720" y="437997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固件与 tests/fake_mcu.py 用同一协议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6812280" y="49377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接收端按帧头重新同步：长度非法或 CRC 错误的帧直接丢弃，不完整的帧留到下一次读取再拼接。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总后台：同一栋楼，三个视角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58952" y="1554480"/>
            <a:ext cx="3429000" cy="4480560"/>
          </a:xfrm>
          <a:prstGeom prst="roundRect">
            <a:avLst>
              <a:gd name="adj" fmla="val 4267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41832" y="1719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学生端视角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41832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与实验台上的提醒一致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41832" y="2450592"/>
            <a:ext cx="960120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8" name="Shape 5"/>
          <p:cNvSpPr/>
          <p:nvPr/>
        </p:nvSpPr>
        <p:spPr>
          <a:xfrm>
            <a:off x="1069848" y="2578608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34440" y="2450592"/>
            <a:ext cx="630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3221B"/>
                </a:solidFill>
              </a:rPr>
              <a:t>高危 3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993392" y="2450592"/>
            <a:ext cx="960120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1" name="Shape 8"/>
          <p:cNvSpPr/>
          <p:nvPr/>
        </p:nvSpPr>
        <p:spPr>
          <a:xfrm>
            <a:off x="2121408" y="2578608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286000" y="2450592"/>
            <a:ext cx="630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5200"/>
                </a:solidFill>
              </a:rPr>
              <a:t>中危 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44677" y="3017520"/>
            <a:ext cx="1044131" cy="2651760"/>
          </a:xfrm>
          <a:prstGeom prst="roundRect">
            <a:avLst>
              <a:gd name="adj" fmla="val 4379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1253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一楼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959102" y="3017520"/>
            <a:ext cx="1086993" cy="2651760"/>
          </a:xfrm>
          <a:prstGeom prst="roundRect">
            <a:avLst>
              <a:gd name="adj" fmla="val 4206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995678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二楼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116390" y="3017520"/>
            <a:ext cx="1044131" cy="2651760"/>
          </a:xfrm>
          <a:prstGeom prst="roundRect">
            <a:avLst>
              <a:gd name="adj" fmla="val 4379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52966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三楼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21830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76110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A01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1221867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76147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A02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921830" y="4400093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76110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221867" y="4400093"/>
            <a:ext cx="274320" cy="384048"/>
          </a:xfrm>
          <a:prstGeom prst="roundRect">
            <a:avLst>
              <a:gd name="adj" fmla="val 13333"/>
            </a:avLst>
          </a:prstGeom>
          <a:ln w="9525">
            <a:solidFill>
              <a:schemeClr val="accent6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1176147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A04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1586198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540478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B01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1586198" y="4400093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540478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B02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2036255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990535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336292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290572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2036255" y="4400093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990535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2722055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2676335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D01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2722055" y="4400093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2676335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D02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300698" y="5308641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254978" y="5308641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E02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3729323" y="5308641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3683603" y="5308641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E01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4370832" y="1554480"/>
            <a:ext cx="3429000" cy="4480560"/>
          </a:xfrm>
          <a:prstGeom prst="roundRect">
            <a:avLst>
              <a:gd name="adj" fmla="val 4267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553712" y="1719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实验室视角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4553712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只显示需要教师处置的实验桌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553712" y="2450592"/>
            <a:ext cx="960120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49" name="Shape 46"/>
          <p:cNvSpPr/>
          <p:nvPr/>
        </p:nvSpPr>
        <p:spPr>
          <a:xfrm>
            <a:off x="4681728" y="2578608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846320" y="2450592"/>
            <a:ext cx="630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3221B"/>
                </a:solidFill>
              </a:rPr>
              <a:t>高危 2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5605272" y="2450592"/>
            <a:ext cx="960120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52" name="Shape 49"/>
          <p:cNvSpPr/>
          <p:nvPr/>
        </p:nvSpPr>
        <p:spPr>
          <a:xfrm>
            <a:off x="5733288" y="2578608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897880" y="2450592"/>
            <a:ext cx="630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5200"/>
                </a:solidFill>
              </a:rPr>
              <a:t>中危 1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4456557" y="3017520"/>
            <a:ext cx="1044131" cy="2651760"/>
          </a:xfrm>
          <a:prstGeom prst="roundRect">
            <a:avLst>
              <a:gd name="adj" fmla="val 4379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493133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一楼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570982" y="3017520"/>
            <a:ext cx="1086993" cy="2651760"/>
          </a:xfrm>
          <a:prstGeom prst="roundRect">
            <a:avLst>
              <a:gd name="adj" fmla="val 4206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607558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二楼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6728270" y="3017520"/>
            <a:ext cx="1044131" cy="2651760"/>
          </a:xfrm>
          <a:prstGeom prst="roundRect">
            <a:avLst>
              <a:gd name="adj" fmla="val 4379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764846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三楼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4533710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487990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A01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4833747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4788027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A02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4533710" y="4400093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487990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</a:t>
            </a:r>
            <a:endParaRPr lang="en-US" sz="700" dirty="0"/>
          </a:p>
        </p:txBody>
      </p:sp>
      <p:sp>
        <p:nvSpPr>
          <p:cNvPr id="66" name="Shape 63"/>
          <p:cNvSpPr/>
          <p:nvPr/>
        </p:nvSpPr>
        <p:spPr>
          <a:xfrm>
            <a:off x="4833747" y="4400093"/>
            <a:ext cx="274320" cy="384048"/>
          </a:xfrm>
          <a:prstGeom prst="roundRect">
            <a:avLst>
              <a:gd name="adj" fmla="val 13333"/>
            </a:avLst>
          </a:prstGeom>
          <a:ln w="9525">
            <a:solidFill>
              <a:schemeClr val="accent6"/>
            </a:solidFill>
            <a:prstDash val="dash"/>
          </a:ln>
        </p:spPr>
      </p:sp>
      <p:sp>
        <p:nvSpPr>
          <p:cNvPr id="67" name="Text 64"/>
          <p:cNvSpPr txBox="1"/>
          <p:nvPr/>
        </p:nvSpPr>
        <p:spPr>
          <a:xfrm>
            <a:off x="4788027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A04</a:t>
            </a:r>
            <a:endParaRPr lang="en-US" sz="700" dirty="0"/>
          </a:p>
        </p:txBody>
      </p:sp>
      <p:sp>
        <p:nvSpPr>
          <p:cNvPr id="68" name="Shape 65"/>
          <p:cNvSpPr/>
          <p:nvPr/>
        </p:nvSpPr>
        <p:spPr>
          <a:xfrm>
            <a:off x="5198078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5152358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B01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5198078" y="4400093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5152358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B02</a:t>
            </a:r>
            <a:endParaRPr lang="en-US" sz="700" dirty="0"/>
          </a:p>
        </p:txBody>
      </p:sp>
      <p:sp>
        <p:nvSpPr>
          <p:cNvPr id="72" name="Shape 69"/>
          <p:cNvSpPr/>
          <p:nvPr/>
        </p:nvSpPr>
        <p:spPr>
          <a:xfrm>
            <a:off x="5648135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5602415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700" dirty="0"/>
          </a:p>
        </p:txBody>
      </p:sp>
      <p:sp>
        <p:nvSpPr>
          <p:cNvPr id="74" name="Shape 71"/>
          <p:cNvSpPr/>
          <p:nvPr/>
        </p:nvSpPr>
        <p:spPr>
          <a:xfrm>
            <a:off x="5948172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5902452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700" dirty="0"/>
          </a:p>
        </p:txBody>
      </p:sp>
      <p:sp>
        <p:nvSpPr>
          <p:cNvPr id="76" name="Shape 73"/>
          <p:cNvSpPr/>
          <p:nvPr/>
        </p:nvSpPr>
        <p:spPr>
          <a:xfrm>
            <a:off x="5648135" y="4400093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602415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700" dirty="0"/>
          </a:p>
        </p:txBody>
      </p:sp>
      <p:sp>
        <p:nvSpPr>
          <p:cNvPr id="78" name="Shape 75"/>
          <p:cNvSpPr/>
          <p:nvPr/>
        </p:nvSpPr>
        <p:spPr>
          <a:xfrm>
            <a:off x="6333935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6288215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D01</a:t>
            </a:r>
            <a:endParaRPr lang="en-US" sz="700" dirty="0"/>
          </a:p>
        </p:txBody>
      </p:sp>
      <p:sp>
        <p:nvSpPr>
          <p:cNvPr id="80" name="Shape 77"/>
          <p:cNvSpPr/>
          <p:nvPr/>
        </p:nvSpPr>
        <p:spPr>
          <a:xfrm>
            <a:off x="6333935" y="4400093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6288215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D02</a:t>
            </a:r>
            <a:endParaRPr lang="en-US" sz="700" dirty="0"/>
          </a:p>
        </p:txBody>
      </p:sp>
      <p:sp>
        <p:nvSpPr>
          <p:cNvPr id="82" name="Shape 79"/>
          <p:cNvSpPr/>
          <p:nvPr/>
        </p:nvSpPr>
        <p:spPr>
          <a:xfrm>
            <a:off x="6912578" y="5308641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6866858" y="5308641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E02</a:t>
            </a:r>
            <a:endParaRPr lang="en-US" sz="700" dirty="0"/>
          </a:p>
        </p:txBody>
      </p:sp>
      <p:sp>
        <p:nvSpPr>
          <p:cNvPr id="84" name="Shape 81"/>
          <p:cNvSpPr/>
          <p:nvPr/>
        </p:nvSpPr>
        <p:spPr>
          <a:xfrm>
            <a:off x="7341203" y="5308641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7295483" y="5308641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E01</a:t>
            </a:r>
            <a:endParaRPr lang="en-US" sz="700" dirty="0"/>
          </a:p>
        </p:txBody>
      </p:sp>
      <p:sp>
        <p:nvSpPr>
          <p:cNvPr id="86" name="Shape 83"/>
          <p:cNvSpPr/>
          <p:nvPr/>
        </p:nvSpPr>
        <p:spPr>
          <a:xfrm>
            <a:off x="7982712" y="1554480"/>
            <a:ext cx="3429000" cy="4480560"/>
          </a:xfrm>
          <a:prstGeom prst="roundRect">
            <a:avLst>
              <a:gd name="adj" fmla="val 4267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8165592" y="1719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实验楼视角</a:t>
            </a:r>
            <a:endParaRPr lang="en-US" sz="1800" dirty="0"/>
          </a:p>
        </p:txBody>
      </p:sp>
      <p:sp>
        <p:nvSpPr>
          <p:cNvPr id="88" name="Text 85"/>
          <p:cNvSpPr txBox="1"/>
          <p:nvPr/>
        </p:nvSpPr>
        <p:spPr>
          <a:xfrm>
            <a:off x="8165592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只显示断电锁定与紧急事件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8165592" y="2450592"/>
            <a:ext cx="960120" cy="347472"/>
          </a:xfrm>
          <a:prstGeom prst="roundRect">
            <a:avLst>
              <a:gd name="adj" fmla="val 21053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90" name="Shape 87"/>
          <p:cNvSpPr/>
          <p:nvPr/>
        </p:nvSpPr>
        <p:spPr>
          <a:xfrm>
            <a:off x="8293608" y="2578608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8458200" y="2450592"/>
            <a:ext cx="630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3221B"/>
                </a:solidFill>
              </a:rPr>
              <a:t>高危 1</a:t>
            </a:r>
            <a:endParaRPr lang="en-US" sz="1400" dirty="0"/>
          </a:p>
        </p:txBody>
      </p:sp>
      <p:sp>
        <p:nvSpPr>
          <p:cNvPr id="92" name="Shape 89"/>
          <p:cNvSpPr/>
          <p:nvPr/>
        </p:nvSpPr>
        <p:spPr>
          <a:xfrm>
            <a:off x="9217152" y="2450592"/>
            <a:ext cx="960120" cy="347472"/>
          </a:xfrm>
          <a:prstGeom prst="roundRect">
            <a:avLst>
              <a:gd name="adj" fmla="val 2105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93" name="Shape 90"/>
          <p:cNvSpPr/>
          <p:nvPr/>
        </p:nvSpPr>
        <p:spPr>
          <a:xfrm>
            <a:off x="9345168" y="2578608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9509760" y="2450592"/>
            <a:ext cx="630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A5200"/>
                </a:solidFill>
              </a:rPr>
              <a:t>中危 1</a:t>
            </a:r>
            <a:endParaRPr lang="en-US" sz="1400" dirty="0"/>
          </a:p>
        </p:txBody>
      </p:sp>
      <p:sp>
        <p:nvSpPr>
          <p:cNvPr id="95" name="Shape 92"/>
          <p:cNvSpPr/>
          <p:nvPr/>
        </p:nvSpPr>
        <p:spPr>
          <a:xfrm>
            <a:off x="8068437" y="3017520"/>
            <a:ext cx="1044131" cy="2651760"/>
          </a:xfrm>
          <a:prstGeom prst="roundRect">
            <a:avLst>
              <a:gd name="adj" fmla="val 4379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8105013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一楼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9182862" y="3017520"/>
            <a:ext cx="1086993" cy="2651760"/>
          </a:xfrm>
          <a:prstGeom prst="roundRect">
            <a:avLst>
              <a:gd name="adj" fmla="val 4206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9219438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二楼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10340150" y="3017520"/>
            <a:ext cx="1044131" cy="2651760"/>
          </a:xfrm>
          <a:prstGeom prst="roundRect">
            <a:avLst>
              <a:gd name="adj" fmla="val 4379"/>
            </a:avLst>
          </a:prstGeom>
          <a:solidFill>
            <a:srgbClr val="F4F6FB"/>
          </a:solidFill>
          <a:ln w="6350">
            <a:solidFill>
              <a:srgbClr val="DDE0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10376726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三楼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8145590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8099869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A01</a:t>
            </a:r>
            <a:endParaRPr lang="en-US" sz="700" dirty="0"/>
          </a:p>
        </p:txBody>
      </p:sp>
      <p:sp>
        <p:nvSpPr>
          <p:cNvPr id="103" name="Shape 100"/>
          <p:cNvSpPr/>
          <p:nvPr/>
        </p:nvSpPr>
        <p:spPr>
          <a:xfrm>
            <a:off x="8445627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8399907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A02</a:t>
            </a:r>
            <a:endParaRPr lang="en-US" sz="700" dirty="0"/>
          </a:p>
        </p:txBody>
      </p:sp>
      <p:sp>
        <p:nvSpPr>
          <p:cNvPr id="105" name="Shape 102"/>
          <p:cNvSpPr/>
          <p:nvPr/>
        </p:nvSpPr>
        <p:spPr>
          <a:xfrm>
            <a:off x="8145590" y="4400093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8099869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</a:t>
            </a:r>
            <a:endParaRPr lang="en-US" sz="700" dirty="0"/>
          </a:p>
        </p:txBody>
      </p:sp>
      <p:sp>
        <p:nvSpPr>
          <p:cNvPr id="107" name="Shape 104"/>
          <p:cNvSpPr/>
          <p:nvPr/>
        </p:nvSpPr>
        <p:spPr>
          <a:xfrm>
            <a:off x="8445627" y="4400093"/>
            <a:ext cx="274320" cy="384048"/>
          </a:xfrm>
          <a:prstGeom prst="roundRect">
            <a:avLst>
              <a:gd name="adj" fmla="val 13333"/>
            </a:avLst>
          </a:prstGeom>
          <a:ln w="9525">
            <a:solidFill>
              <a:schemeClr val="accent6"/>
            </a:solidFill>
            <a:prstDash val="dash"/>
          </a:ln>
        </p:spPr>
      </p:sp>
      <p:sp>
        <p:nvSpPr>
          <p:cNvPr id="108" name="Text 105"/>
          <p:cNvSpPr txBox="1"/>
          <p:nvPr/>
        </p:nvSpPr>
        <p:spPr>
          <a:xfrm>
            <a:off x="8399907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A04</a:t>
            </a:r>
            <a:endParaRPr lang="en-US" sz="700" dirty="0"/>
          </a:p>
        </p:txBody>
      </p:sp>
      <p:sp>
        <p:nvSpPr>
          <p:cNvPr id="109" name="Shape 106"/>
          <p:cNvSpPr/>
          <p:nvPr/>
        </p:nvSpPr>
        <p:spPr>
          <a:xfrm>
            <a:off x="8809958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8764238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B01</a:t>
            </a:r>
            <a:endParaRPr lang="en-US" sz="700" dirty="0"/>
          </a:p>
        </p:txBody>
      </p:sp>
      <p:sp>
        <p:nvSpPr>
          <p:cNvPr id="111" name="Shape 108"/>
          <p:cNvSpPr/>
          <p:nvPr/>
        </p:nvSpPr>
        <p:spPr>
          <a:xfrm>
            <a:off x="8809958" y="4400093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8764238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B02</a:t>
            </a:r>
            <a:endParaRPr lang="en-US" sz="700" dirty="0"/>
          </a:p>
        </p:txBody>
      </p:sp>
      <p:sp>
        <p:nvSpPr>
          <p:cNvPr id="113" name="Shape 110"/>
          <p:cNvSpPr/>
          <p:nvPr/>
        </p:nvSpPr>
        <p:spPr>
          <a:xfrm>
            <a:off x="9260015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9214295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700" dirty="0"/>
          </a:p>
        </p:txBody>
      </p:sp>
      <p:sp>
        <p:nvSpPr>
          <p:cNvPr id="115" name="Shape 112"/>
          <p:cNvSpPr/>
          <p:nvPr/>
        </p:nvSpPr>
        <p:spPr>
          <a:xfrm>
            <a:off x="9560052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16" name="Text 113"/>
          <p:cNvSpPr txBox="1"/>
          <p:nvPr/>
        </p:nvSpPr>
        <p:spPr>
          <a:xfrm>
            <a:off x="9514332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700" dirty="0"/>
          </a:p>
        </p:txBody>
      </p:sp>
      <p:sp>
        <p:nvSpPr>
          <p:cNvPr id="117" name="Shape 114"/>
          <p:cNvSpPr/>
          <p:nvPr/>
        </p:nvSpPr>
        <p:spPr>
          <a:xfrm>
            <a:off x="9260015" y="4400093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9214295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700" dirty="0"/>
          </a:p>
        </p:txBody>
      </p:sp>
      <p:sp>
        <p:nvSpPr>
          <p:cNvPr id="119" name="Shape 116"/>
          <p:cNvSpPr/>
          <p:nvPr/>
        </p:nvSpPr>
        <p:spPr>
          <a:xfrm>
            <a:off x="9945815" y="3741725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9900095" y="3741725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D01</a:t>
            </a:r>
            <a:endParaRPr lang="en-US" sz="700" dirty="0"/>
          </a:p>
        </p:txBody>
      </p:sp>
      <p:sp>
        <p:nvSpPr>
          <p:cNvPr id="121" name="Shape 118"/>
          <p:cNvSpPr/>
          <p:nvPr/>
        </p:nvSpPr>
        <p:spPr>
          <a:xfrm>
            <a:off x="9945815" y="4400093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9900095" y="440009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D02</a:t>
            </a:r>
            <a:endParaRPr lang="en-US" sz="700" dirty="0"/>
          </a:p>
        </p:txBody>
      </p:sp>
      <p:sp>
        <p:nvSpPr>
          <p:cNvPr id="123" name="Shape 120"/>
          <p:cNvSpPr/>
          <p:nvPr/>
        </p:nvSpPr>
        <p:spPr>
          <a:xfrm>
            <a:off x="10524458" y="5308641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10478738" y="5308641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E02</a:t>
            </a:r>
            <a:endParaRPr lang="en-US" sz="700" dirty="0"/>
          </a:p>
        </p:txBody>
      </p:sp>
      <p:sp>
        <p:nvSpPr>
          <p:cNvPr id="125" name="Shape 122"/>
          <p:cNvSpPr/>
          <p:nvPr/>
        </p:nvSpPr>
        <p:spPr>
          <a:xfrm>
            <a:off x="10953083" y="5308641"/>
            <a:ext cx="274320" cy="384048"/>
          </a:xfrm>
          <a:prstGeom prst="roundRect">
            <a:avLst>
              <a:gd name="adj" fmla="val 13333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10907363" y="5308641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C6B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E01</a:t>
            </a:r>
            <a:endParaRPr lang="en-US" sz="700" dirty="0"/>
          </a:p>
        </p:txBody>
      </p:sp>
      <p:sp>
        <p:nvSpPr>
          <p:cNvPr id="127" name="Text 124"/>
          <p:cNvSpPr txBox="1"/>
          <p:nvPr/>
        </p:nvSpPr>
        <p:spPr>
          <a:xfrm>
            <a:off x="758952" y="61081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演示数据：tools/center_demo.py，13 台模拟终端。视角即接口参数 GET /api/overview?tier=…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终端接入：一个上报接口，指令只有断电和静音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58952" y="1325880"/>
            <a:ext cx="2194560" cy="960120"/>
          </a:xfrm>
          <a:prstGeom prst="roundRect">
            <a:avLst>
              <a:gd name="adj" fmla="val 15238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1444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实验台终端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center_link.py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235440" y="1325880"/>
            <a:ext cx="2194560" cy="960120"/>
          </a:xfrm>
          <a:prstGeom prst="roundRect">
            <a:avLst>
              <a:gd name="adj" fmla="val 15238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436608" y="1444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总后台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436608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center/app.py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1645920"/>
            <a:ext cx="598932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3108960" y="1371600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/api/node/report　X-Node-Token　每 2 s：snapshot、meta、acks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08960" y="2103120"/>
            <a:ext cx="598932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head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108960" y="1828800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返回 profile（区域阈值）、commands、voice（语音包版本）</a:t>
            </a:r>
            <a:endParaRPr lang="en-US" sz="1100" dirty="0"/>
          </a:p>
        </p:txBody>
      </p:sp>
      <p:sp>
        <p:nvSpPr>
          <p:cNvPr id="14" name="代码块"/>
          <p:cNvSpPr/>
          <p:nvPr/>
        </p:nvSpPr>
        <p:spPr>
          <a:xfrm>
            <a:off x="758952" y="2606040"/>
            <a:ext cx="5669280" cy="2214563"/>
          </a:xfrm>
          <a:prstGeom prst="roundRect">
            <a:avLst>
              <a:gd name="adj" fmla="val 5781"/>
            </a:avLst>
          </a:prstGeom>
          <a:solidFill>
            <a:schemeClr val="accent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41832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node_report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center/app.py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828032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L449–461 节选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41832" y="3063240"/>
            <a:ext cx="5303520" cy="1665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@app.post("/api/node/report")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node_report(request: Request, n=Depends(node_auth)):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await body(request)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store.ack_commands(n["id"], data.get("acks") or {})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store.record_report(n["id"], ..., snap, meta)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prof = _resolved_rules(n["area_id"])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cmds = store.pending_commands(n["id"])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{"profile": prof, "commands": [...],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"voice": _voice_pack(n["area_id"]), ...}</a:t>
            </a:r>
            <a:endParaRPr lang="en-US" sz="950" dirty="0"/>
          </a:p>
        </p:txBody>
      </p:sp>
      <p:sp>
        <p:nvSpPr>
          <p:cNvPr id="18" name="代码块"/>
          <p:cNvSpPr/>
          <p:nvPr/>
        </p:nvSpPr>
        <p:spPr>
          <a:xfrm>
            <a:off x="6629400" y="2606040"/>
            <a:ext cx="4800600" cy="2389505"/>
          </a:xfrm>
          <a:prstGeom prst="roundRect">
            <a:avLst>
              <a:gd name="adj" fmla="val 5357"/>
            </a:avLst>
          </a:prstGeom>
          <a:solidFill>
            <a:schemeClr val="accent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1228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指令白名单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center_link.py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82980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L145–155 节选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812280" y="3063240"/>
            <a:ext cx="4434840" cy="1840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 = ("cut_power", "mute")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run_command(self, c):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cmd, args = c.get("cmd"), c.get("args") or {}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cmd == "cut_power":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self.engine.cut_power(f"总后台·{who}")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cmd == "mute":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until = self.engine.mute(...)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...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"不支持的指令"   # 没有上电 / 解锁指令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58952" y="5257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执行结果在下一次上报的 acks 里回写；上报失败只记录，终端本机判断不受影响。</a:t>
            </a:r>
            <a:endParaRPr lang="en-US" sz="1200" dirty="0"/>
          </a:p>
        </p:txBody>
      </p:sp>
      <p:sp>
        <p:nvSpPr>
          <p:cNvPr id="23" name="信号灯"/>
          <p:cNvSpPr/>
          <p:nvPr/>
        </p:nvSpPr>
        <p:spPr>
          <a:xfrm>
            <a:off x="3083560" y="131826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分层管理；下发的阈值在终端再校验一次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58952" y="1325880"/>
            <a:ext cx="265176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58952" y="14356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账号与授权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58952" y="1801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管理员和教师两种角色；教师只能看、管被授权的楼栋、房间或实验桌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58952" y="2331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users、grants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593592" y="1325880"/>
            <a:ext cx="265176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93592" y="14356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阈值方案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593592" y="1801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出厂预设打底，按区域逐级覆盖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593592" y="2331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58952" y="2651760"/>
            <a:ext cx="265176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" y="2761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语音包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" y="31272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每类提示温和、严厉两种语气；TTS 或教师本人录音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" y="3657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voice_assets、voice_map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593592" y="2651760"/>
            <a:ext cx="265176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93592" y="2761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复核与审计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593592" y="31272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报警复核汇总现场准确率；所有操作写入审计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593592" y="3657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endParaRPr lang="en-US" sz="900" dirty="0"/>
          </a:p>
        </p:txBody>
      </p:sp>
      <p:sp>
        <p:nvSpPr>
          <p:cNvPr id="20" name="代码块"/>
          <p:cNvSpPr/>
          <p:nvPr/>
        </p:nvSpPr>
        <p:spPr>
          <a:xfrm>
            <a:off x="758952" y="4069080"/>
            <a:ext cx="5486400" cy="1514793"/>
          </a:xfrm>
          <a:prstGeom prst="roundRect">
            <a:avLst>
              <a:gd name="adj" fmla="val 8451"/>
            </a:avLst>
          </a:prstGeom>
          <a:solidFill>
            <a:schemeClr val="accent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41832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tunable_spec()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src/core/tunable.py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645152" y="4160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L38–44 节选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41832" y="4526280"/>
            <a:ext cx="5120640" cy="966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= dict(TUNABLE)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typ, lo, _, label, grp = spec["rules.dry_burn_c"]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spec["rules.dry_burn_c"] = (typ, lo, float(hard_limit_c) - 5, ...)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typ, lo, _, label, grp = spec["rules.smoke_raw"]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spec["rules.smoke_raw"] = (typ, lo, int(smoke_limit_raw) - 100, ...)</a:t>
            </a:r>
            <a:endParaRPr lang="en-US" sz="950" dirty="0"/>
          </a:p>
        </p:txBody>
      </p:sp>
      <p:pic>
        <p:nvPicPr>
          <p:cNvPr id="24" name="Image 0" descr="总后台总览页：处置队列与按楼层排布的实验桌平面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25880"/>
            <a:ext cx="4846320" cy="33655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583680" y="47645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总后台总览页截图（演示数据）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583680" y="5120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终端 apply_profile() 按本机控制盒硬上限（150℃ / 2500）重建白名单，超限项不生效，原因写进事件，并在下一次上报的 profile_errors 里回报。</a:t>
            </a:r>
            <a:endParaRPr lang="en-US" sz="1200" dirty="0"/>
          </a:p>
        </p:txBody>
      </p:sp>
      <p:sp>
        <p:nvSpPr>
          <p:cNvPr id="27" name="信号灯"/>
          <p:cNvSpPr/>
          <p:nvPr/>
        </p:nvSpPr>
        <p:spPr>
          <a:xfrm>
            <a:off x="6639560" y="397891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设计约束写进自动测试</a:t>
            </a:r>
            <a:endParaRPr lang="en-US" sz="3200" dirty="0"/>
          </a:p>
        </p:txBody>
      </p:sp>
      <p:sp>
        <p:nvSpPr>
          <p:cNvPr id="4" name="代码块"/>
          <p:cNvSpPr/>
          <p:nvPr/>
        </p:nvSpPr>
        <p:spPr>
          <a:xfrm>
            <a:off x="758952" y="1463040"/>
            <a:ext cx="6400800" cy="2297430"/>
          </a:xfrm>
          <a:prstGeom prst="roundRect">
            <a:avLst>
              <a:gd name="adj" fmla="val 5572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41832" y="1554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更纱黑体 SC" pitchFamily="34" charset="0"/>
                <a:ea typeface="更纱黑体 SC" pitchFamily="34" charset="-122"/>
                <a:cs typeface="更纱黑体 SC" pitchFamily="34" charset="-120"/>
              </a:rPr>
              <a:t>只断不通、大模型不碰电闸  </a:t>
            </a:r>
            <a:pPr indent="0" marL="0">
              <a:buNone/>
            </a:pPr>
            <a:r>
              <a:rPr lang="en-US" sz="1100" dirty="0">
                <a:solidFill>
                  <a:srgbClr val="A9B0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tests/test_platform.py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559552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B8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L173, L231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41832" y="1920240"/>
            <a:ext cx="603504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{t["function"]["name"] for t in TOOLS}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check(not any(k in n for n in names for k in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("power", "relay", "reset", "unlock", "cut")),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"Agent 工具表中没有任何电源 / 继电器 / 解锁类工具")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= {getattr(rt, "path", "") for rt in client.app.routes}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check(not any(k in p for p in routes for k in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("power/on", "power/restore", "unlock", "reset", "release")),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4E7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"不存在任何上电 / 解锁接口")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589520" y="1463040"/>
            <a:ext cx="118872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21945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test_backend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安全核心、协议、控制键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887968" y="1463040"/>
            <a:ext cx="118872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887968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887968" y="21945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test_platform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控制台、助手、约束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186416" y="1463040"/>
            <a:ext cx="1188720" cy="0"/>
          </a:xfrm>
          <a:prstGeom prst="line">
            <a:avLst/>
          </a:prstGeom>
          <a:noFill/>
          <a:ln w="9525">
            <a:solidFill>
              <a:srgbClr val="DDE0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186416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10186416" y="21945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test_center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总后台、接入、分层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0" y="32004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测试用 tests/fake_mcu.py 模拟控制盒，数据库建在临时目录，不需要摄像头、控制盒和大模型。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4297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用例数为仓库文档记录；答辩前请在比赛电脑上重跑一遍。</a:t>
            </a:r>
            <a:endParaRPr lang="en-US" sz="1200" dirty="0"/>
          </a:p>
        </p:txBody>
      </p:sp>
      <p:sp>
        <p:nvSpPr>
          <p:cNvPr id="19" name="信号灯"/>
          <p:cNvSpPr/>
          <p:nvPr/>
        </p:nvSpPr>
        <p:spPr>
          <a:xfrm>
            <a:off x="7274560" y="143256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实物运行</a:t>
            </a:r>
            <a:endParaRPr lang="en-US" sz="3200" dirty="0"/>
          </a:p>
        </p:txBody>
      </p:sp>
      <p:pic>
        <p:nvPicPr>
          <p:cNvPr id="4" name="照片 1：实验台终端整机运行" descr="照片 1：实验台终端整机运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27048"/>
            <a:ext cx="5330952" cy="4480560"/>
          </a:xfrm>
          <a:prstGeom prst="rect">
            <a:avLst/>
          </a:prstGeom>
        </p:spPr>
      </p:pic>
      <p:pic>
        <p:nvPicPr>
          <p:cNvPr id="5" name="照片 2：控制盒与传感器接线" descr="照片 2：控制盒与传感器接线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27048"/>
            <a:ext cx="5029200" cy="2148840"/>
          </a:xfrm>
          <a:prstGeom prst="rect">
            <a:avLst/>
          </a:prstGeom>
        </p:spPr>
      </p:pic>
      <p:pic>
        <p:nvPicPr>
          <p:cNvPr id="6" name="照片 3：小屏提醒或总后台联调" descr="照片 3：小屏提醒或总后台联调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58768"/>
            <a:ext cx="5029200" cy="2148840"/>
          </a:xfrm>
          <a:prstGeom prst="rect">
            <a:avLst/>
          </a:prstGeom>
        </p:spPr>
      </p:pic>
      <p:sp>
        <p:nvSpPr>
          <p:cNvPr id="7" name="信号灯"/>
          <p:cNvSpPr/>
          <p:nvPr/>
        </p:nvSpPr>
        <p:spPr>
          <a:xfrm>
            <a:off x="924560" y="1432560"/>
            <a:ext cx="182880" cy="1828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120640" y="2148840"/>
            <a:ext cx="1947672" cy="1188720"/>
          </a:xfrm>
          <a:prstGeom prst="roundRect">
            <a:avLst>
              <a:gd name="adj" fmla="val 15385"/>
            </a:avLst>
          </a:prstGeom>
          <a:solidFill>
            <a:srgbClr val="F7F8FC"/>
          </a:solidFill>
          <a:ln w="9525">
            <a:solidFill>
              <a:srgbClr val="DDE0EA"/>
            </a:solidFill>
            <a:prstDash val="solid"/>
          </a:ln>
          <a:effectLst>
            <a:outerShdw sx="100000" sy="100000" kx="0" ky="0" algn="bl" rotWithShape="0" blurRad="228600" dist="76200" dir="5400000">
              <a:srgbClr val="262E6E">
                <a:alpha val="2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5833872" y="2487168"/>
            <a:ext cx="530352" cy="530352"/>
          </a:xfrm>
          <a:prstGeom prst="roundRect">
            <a:avLst>
              <a:gd name="adj" fmla="val 13793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742432" y="248716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BD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RK3588</a:t>
            </a:r>
            <a:endParaRPr lang="en-US" sz="800" dirty="0"/>
          </a:p>
        </p:txBody>
      </p:sp>
      <p:sp>
        <p:nvSpPr>
          <p:cNvPr id="6" name="信号灯"/>
          <p:cNvSpPr/>
          <p:nvPr/>
        </p:nvSpPr>
        <p:spPr>
          <a:xfrm>
            <a:off x="6877304" y="2451354"/>
            <a:ext cx="164592" cy="16459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16A362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97000" y="952500"/>
            <a:ext cx="2286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  <a:effectLst>
            <a:outerShdw sx="100000" sy="100000" kx="0" ky="0" algn="bl" rotWithShape="0" blurRad="177800" dist="50800" dir="5400000">
              <a:srgbClr val="262E6E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561592" y="106222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双摄识别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561592" y="14097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YOLO11n，人员 12 类，器皿 14 类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53000" y="698500"/>
            <a:ext cx="2286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  <a:effectLst>
            <a:outerShdw sx="100000" sy="100000" kx="0" ky="0" algn="bl" rotWithShape="0" blurRad="177800" dist="50800" dir="5400000">
              <a:srgbClr val="262E6E">
                <a:alpha val="14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117592" y="80822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交叉验证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117592" y="11557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多源规则打分，分低、中、高三级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09000" y="952500"/>
            <a:ext cx="2286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  <a:effectLst>
            <a:outerShdw sx="100000" sy="100000" kx="0" ky="0" algn="bl" rotWithShape="0" blurRad="177800" dist="50800" dir="5400000">
              <a:srgbClr val="262E6E">
                <a:alpha val="14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673592" y="106222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三层分级上报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673592" y="14097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学生端、实验室老师、实验楼各自定级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17000" y="2667000"/>
            <a:ext cx="2286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  <a:effectLst>
            <a:outerShdw sx="100000" sy="100000" kx="0" ky="0" algn="bl" rotWithShape="0" blurRad="177800" dist="50800" dir="5400000">
              <a:srgbClr val="262E6E">
                <a:alpha val="14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181592" y="277672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语音提示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9181592" y="31242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温和与严厉两种语气，可用教师本人录音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509000" y="4381500"/>
            <a:ext cx="2286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  <a:effectLst>
            <a:outerShdw sx="100000" sy="100000" kx="0" ky="0" algn="bl" rotWithShape="0" blurRad="177800" dist="50800" dir="5400000">
              <a:srgbClr val="262E6E">
                <a:alpha val="14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673592" y="449122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总后台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673592" y="48387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平面图、处置队列、阈值方案、授权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53000" y="4445000"/>
            <a:ext cx="2286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  <a:effectLst>
            <a:outerShdw sx="100000" sy="100000" kx="0" ky="0" algn="bl" rotWithShape="0" blurRad="177800" dist="50800" dir="5400000">
              <a:srgbClr val="262E6E">
                <a:alpha val="14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5117592" y="455472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控制盒断电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117592" y="49022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固件硬规则与心跳看门狗，只断不通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397000" y="4381500"/>
            <a:ext cx="2286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  <a:effectLst>
            <a:outerShdw sx="100000" sy="100000" kx="0" ky="0" algn="bl" rotWithShape="0" blurRad="177800" dist="50800" dir="5400000">
              <a:srgbClr val="262E6E">
                <a:alpha val="14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1561592" y="449122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安全助手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1561592" y="48387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只读工具，引用手册条款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89000" y="2667000"/>
            <a:ext cx="2286000" cy="868680"/>
          </a:xfrm>
          <a:prstGeom prst="roundRect">
            <a:avLst>
              <a:gd name="adj" fmla="val 16842"/>
            </a:avLst>
          </a:prstGeom>
          <a:solidFill>
            <a:schemeClr val="bg1"/>
          </a:solidFill>
          <a:ln w="9525">
            <a:solidFill>
              <a:srgbClr val="DDE0EA"/>
            </a:solidFill>
            <a:prstDash val="solid"/>
          </a:ln>
          <a:effectLst>
            <a:outerShdw sx="100000" sy="100000" kx="0" ky="0" algn="bl" rotWithShape="0" blurRad="177800" dist="50800" dir="5400000">
              <a:srgbClr val="262E6E">
                <a:alpha val="14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1053592" y="277672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温度预测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1053592" y="31242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一阶热平衡拟合；越过沸点才给干烧倒计时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" y="553720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防患于未然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" y="608584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基于双摄协同的实验室安全事前干预监测系统</a:t>
            </a:r>
            <a:endParaRPr lang="en-US" sz="1300" dirty="0"/>
          </a:p>
        </p:txBody>
      </p:sp>
      <p:sp>
        <p:nvSpPr>
          <p:cNvPr id="33" name="Text 0"/>
          <p:cNvSpPr/>
          <p:nvPr>
            <p:ph idx="100" type="title" hasCustomPrompt="1"/>
          </p:nvPr>
        </p:nvSpPr>
        <p:spPr>
          <a:xfrm>
            <a:off x="758952" y="502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Guard">
  <a:themeElements>
    <a:clrScheme name="LabGuard">
      <a:dk1>
        <a:srgbClr val="1A1F3D"/>
      </a:dk1>
      <a:lt1>
        <a:srgbClr val="FFFFFF"/>
      </a:lt1>
      <a:dk2>
        <a:srgbClr val="4E5577"/>
      </a:dk2>
      <a:lt2>
        <a:srgbClr val="F1F3F8"/>
      </a:lt2>
      <a:accent1>
        <a:srgbClr val="16A362"/>
      </a:accent1>
      <a:accent2>
        <a:srgbClr val="EC9808"/>
      </a:accent2>
      <a:accent3>
        <a:srgbClr val="E03A32"/>
      </a:accent3>
      <a:accent4>
        <a:srgbClr val="5C6BC0"/>
      </a:accent4>
      <a:accent5>
        <a:srgbClr val="171B33"/>
      </a:accent5>
      <a:accent6>
        <a:srgbClr val="7F86A3"/>
      </a:accent6>
      <a:hlink>
        <a:srgbClr val="5C6BC0"/>
      </a:hlink>
      <a:folHlink>
        <a:srgbClr val="4E5577"/>
      </a:folHlink>
    </a:clrScheme>
    <a:fontScheme name="LabGuard">
      <a:majorFont>
        <a:latin typeface="思源宋体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更纱黑体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基于双摄协同的实验室安全事前干预监测系统</dc:title>
  <dc:subject>PptxGenJS Presentation</dc:subject>
  <dc:creator>PptxGenJS</dc:creator>
  <cp:lastModifiedBy>PptxGenJS</cp:lastModifiedBy>
  <cp:revision>1</cp:revision>
  <dcterms:created xsi:type="dcterms:W3CDTF">2026-10-24T03:23:31Z</dcterms:created>
  <dcterms:modified xsi:type="dcterms:W3CDTF">2026-10-24T03:23:31Z</dcterms:modified>
</cp:coreProperties>
</file>