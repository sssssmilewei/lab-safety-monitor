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片头" id="{7db5f978-7b61-293d-4031-ff1a78f0aa1c}">
          <p14:sldIdLst>
            <p14:sldId id="256"/>
          </p14:sldIdLst>
        </p14:section>
        <p14:section name="需求" id="{0777bde4-7b88-9075-ff0f-8f444a18bc0f}">
          <p14:sldIdLst>
            <p14:sldId id="257"/>
            <p14:sldId id="258"/>
            <p14:sldId id="259"/>
          </p14:sldIdLst>
        </p14:section>
        <p14:section name="识别" id="{888b3695-722a-ab95-73df-7b18b4448e9d}">
          <p14:sldIdLst>
            <p14:sldId id="260"/>
            <p14:sldId id="261"/>
            <p14:sldId id="262"/>
          </p14:sldIdLst>
        </p14:section>
        <p14:section name="面向学生" id="{5164bec4-0c9f-bf6f-8528-9ef3f60aafd1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总后台" id="{026a760d-a619-334a-ad30-d57db4f51404}">
          <p14:sldIdLst>
            <p14:sldId id="269"/>
            <p14:sldId id="270"/>
          </p14:sldIdLst>
        </p14:section>
        <p14:section name="工程实现" id="{5301549e-550d-c137-0b0f-c3437b370aa0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结尾" id="{6e6bfa7a-2da7-9044-acaa-7a1fd3bbc063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E5577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4E5577"/>
                </a:solidFill>
                <a:latin typeface="+mn-lt"/>
              </a:rPr>
              <a:t>验证集指标随 epoch 变化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mAP@0.5</c:v>
                </c:pt>
              </c:strCache>
            </c:strRef>
          </c:tx>
          <c:spPr>
            <a:solidFill>
              <a:srgbClr val="1A1F3D"/>
            </a:solidFill>
            <a:ln w="25400" cap="flat">
              <a:solidFill>
                <a:srgbClr val="1A1F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A1F3D"/>
              </a:solidFill>
              <a:ln w="9525" cap="flat">
                <a:solidFill>
                  <a:srgbClr val="1A1F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Sheet1!$A$2:$A$81</c:f>
              <c:multiLvlStrCache>
                <c:ptCount val="8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</c:lvl>
              </c:multiLvlStrCache>
            </c:multiLvlStrRef>
          </c:cat>
          <c:val>
            <c:numRef>
              <c:f>Sheet1!$B$2:$B$81</c:f>
              <c:numCache>
                <c:formatCode>General</c:formatCode>
                <c:ptCount val="80"/>
                <c:pt idx="0">
                  <c:v>0.5862</c:v>
                </c:pt>
                <c:pt idx="1">
                  <c:v>0.6653</c:v>
                </c:pt>
                <c:pt idx="2">
                  <c:v>0.6929</c:v>
                </c:pt>
                <c:pt idx="3">
                  <c:v>0.7099</c:v>
                </c:pt>
                <c:pt idx="4">
                  <c:v>0.7284</c:v>
                </c:pt>
                <c:pt idx="5">
                  <c:v>0.7401</c:v>
                </c:pt>
                <c:pt idx="6">
                  <c:v>0.7523</c:v>
                </c:pt>
                <c:pt idx="7">
                  <c:v>0.7606</c:v>
                </c:pt>
                <c:pt idx="8">
                  <c:v>0.7773</c:v>
                </c:pt>
                <c:pt idx="9">
                  <c:v>0.7581</c:v>
                </c:pt>
                <c:pt idx="10">
                  <c:v>0.7848</c:v>
                </c:pt>
                <c:pt idx="11">
                  <c:v>0.7875</c:v>
                </c:pt>
                <c:pt idx="12">
                  <c:v>0.7903</c:v>
                </c:pt>
                <c:pt idx="13">
                  <c:v>0.7915</c:v>
                </c:pt>
                <c:pt idx="14">
                  <c:v>0.8017</c:v>
                </c:pt>
                <c:pt idx="15">
                  <c:v>0.8099</c:v>
                </c:pt>
                <c:pt idx="16">
                  <c:v>0.8093</c:v>
                </c:pt>
                <c:pt idx="17">
                  <c:v>0.8133</c:v>
                </c:pt>
                <c:pt idx="18">
                  <c:v>0.822</c:v>
                </c:pt>
                <c:pt idx="19">
                  <c:v>0.8213</c:v>
                </c:pt>
                <c:pt idx="20">
                  <c:v>0.8289</c:v>
                </c:pt>
                <c:pt idx="21">
                  <c:v>0.8278</c:v>
                </c:pt>
                <c:pt idx="22">
                  <c:v>0.8324</c:v>
                </c:pt>
                <c:pt idx="23">
                  <c:v>0.8325</c:v>
                </c:pt>
                <c:pt idx="24">
                  <c:v>0.8403</c:v>
                </c:pt>
                <c:pt idx="25">
                  <c:v>0.8378</c:v>
                </c:pt>
                <c:pt idx="26">
                  <c:v>0.8373</c:v>
                </c:pt>
                <c:pt idx="27">
                  <c:v>0.8413</c:v>
                </c:pt>
                <c:pt idx="28">
                  <c:v>0.8465</c:v>
                </c:pt>
                <c:pt idx="29">
                  <c:v>0.8459</c:v>
                </c:pt>
                <c:pt idx="30">
                  <c:v>0.8475</c:v>
                </c:pt>
                <c:pt idx="31">
                  <c:v>0.8505</c:v>
                </c:pt>
                <c:pt idx="32">
                  <c:v>0.8482</c:v>
                </c:pt>
                <c:pt idx="33">
                  <c:v>0.8521</c:v>
                </c:pt>
                <c:pt idx="34">
                  <c:v>0.8562</c:v>
                </c:pt>
                <c:pt idx="35">
                  <c:v>0.8587</c:v>
                </c:pt>
                <c:pt idx="36">
                  <c:v>0.8584</c:v>
                </c:pt>
                <c:pt idx="37">
                  <c:v>0.8612</c:v>
                </c:pt>
                <c:pt idx="38">
                  <c:v>0.8579</c:v>
                </c:pt>
                <c:pt idx="39">
                  <c:v>0.8632</c:v>
                </c:pt>
                <c:pt idx="40">
                  <c:v>0.8622</c:v>
                </c:pt>
                <c:pt idx="41">
                  <c:v>0.8626</c:v>
                </c:pt>
                <c:pt idx="42">
                  <c:v>0.8641</c:v>
                </c:pt>
                <c:pt idx="43">
                  <c:v>0.8672</c:v>
                </c:pt>
                <c:pt idx="44">
                  <c:v>0.8695</c:v>
                </c:pt>
                <c:pt idx="45">
                  <c:v>0.8713</c:v>
                </c:pt>
                <c:pt idx="46">
                  <c:v>0.8734</c:v>
                </c:pt>
                <c:pt idx="47">
                  <c:v>0.8722</c:v>
                </c:pt>
                <c:pt idx="48">
                  <c:v>0.8738</c:v>
                </c:pt>
                <c:pt idx="49">
                  <c:v>0.8722</c:v>
                </c:pt>
                <c:pt idx="50">
                  <c:v>0.8766</c:v>
                </c:pt>
                <c:pt idx="51">
                  <c:v>0.8762</c:v>
                </c:pt>
                <c:pt idx="52">
                  <c:v>0.8775</c:v>
                </c:pt>
                <c:pt idx="53">
                  <c:v>0.8785</c:v>
                </c:pt>
                <c:pt idx="54">
                  <c:v>0.8783</c:v>
                </c:pt>
                <c:pt idx="55">
                  <c:v>0.8787</c:v>
                </c:pt>
                <c:pt idx="56">
                  <c:v>0.8784</c:v>
                </c:pt>
                <c:pt idx="57">
                  <c:v>0.88</c:v>
                </c:pt>
                <c:pt idx="58">
                  <c:v>0.8818</c:v>
                </c:pt>
                <c:pt idx="59">
                  <c:v>0.8817</c:v>
                </c:pt>
                <c:pt idx="60">
                  <c:v>0.8801</c:v>
                </c:pt>
                <c:pt idx="61">
                  <c:v>0.883</c:v>
                </c:pt>
                <c:pt idx="62">
                  <c:v>0.883</c:v>
                </c:pt>
                <c:pt idx="63">
                  <c:v>0.8838</c:v>
                </c:pt>
                <c:pt idx="64">
                  <c:v>0.885</c:v>
                </c:pt>
                <c:pt idx="65">
                  <c:v>0.8838</c:v>
                </c:pt>
                <c:pt idx="66">
                  <c:v>0.8842</c:v>
                </c:pt>
                <c:pt idx="67">
                  <c:v>0.8851</c:v>
                </c:pt>
                <c:pt idx="68">
                  <c:v>0.8844</c:v>
                </c:pt>
                <c:pt idx="69">
                  <c:v>0.8872</c:v>
                </c:pt>
                <c:pt idx="70">
                  <c:v>0.8856</c:v>
                </c:pt>
                <c:pt idx="71">
                  <c:v>0.8869</c:v>
                </c:pt>
                <c:pt idx="72">
                  <c:v>0.8881</c:v>
                </c:pt>
                <c:pt idx="73">
                  <c:v>0.8859</c:v>
                </c:pt>
                <c:pt idx="74">
                  <c:v>0.8891</c:v>
                </c:pt>
                <c:pt idx="75">
                  <c:v>0.8894</c:v>
                </c:pt>
                <c:pt idx="76">
                  <c:v>0.8902</c:v>
                </c:pt>
                <c:pt idx="77">
                  <c:v>0.8899</c:v>
                </c:pt>
                <c:pt idx="78">
                  <c:v>0.8889</c:v>
                </c:pt>
                <c:pt idx="79">
                  <c:v>0.8882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mAP@0.5:0.95</c:v>
                </c:pt>
              </c:strCache>
            </c:strRef>
          </c:tx>
          <c:spPr>
            <a:solidFill>
              <a:srgbClr val="9AA4D6"/>
            </a:solidFill>
            <a:ln w="25400" cap="flat">
              <a:solidFill>
                <a:srgbClr val="9AA4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4D6"/>
              </a:solidFill>
              <a:ln w="9525" cap="flat">
                <a:solidFill>
                  <a:srgbClr val="9AA4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Sheet1!$A$2:$A$81</c:f>
              <c:multiLvlStrCache>
                <c:ptCount val="8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</c:lvl>
              </c:multiLvlStrCache>
            </c:multiLvlStrRef>
          </c:cat>
          <c:val>
            <c:numRef>
              <c:f>Sheet1!$C$2:$C$81</c:f>
              <c:numCache>
                <c:formatCode>General</c:formatCode>
                <c:ptCount val="80"/>
                <c:pt idx="0">
                  <c:v>0.3974</c:v>
                </c:pt>
                <c:pt idx="1">
                  <c:v>0.4458</c:v>
                </c:pt>
                <c:pt idx="2">
                  <c:v>0.4597</c:v>
                </c:pt>
                <c:pt idx="3">
                  <c:v>0.4758</c:v>
                </c:pt>
                <c:pt idx="4">
                  <c:v>0.492</c:v>
                </c:pt>
                <c:pt idx="5">
                  <c:v>0.5051</c:v>
                </c:pt>
                <c:pt idx="6">
                  <c:v>0.5126</c:v>
                </c:pt>
                <c:pt idx="7">
                  <c:v>0.5241</c:v>
                </c:pt>
                <c:pt idx="8">
                  <c:v>0.5367</c:v>
                </c:pt>
                <c:pt idx="9">
                  <c:v>0.5223</c:v>
                </c:pt>
                <c:pt idx="10">
                  <c:v>0.5443</c:v>
                </c:pt>
                <c:pt idx="11">
                  <c:v>0.5474</c:v>
                </c:pt>
                <c:pt idx="12">
                  <c:v>0.5515</c:v>
                </c:pt>
                <c:pt idx="13">
                  <c:v>0.5522</c:v>
                </c:pt>
                <c:pt idx="14">
                  <c:v>0.5606</c:v>
                </c:pt>
                <c:pt idx="15">
                  <c:v>0.5651</c:v>
                </c:pt>
                <c:pt idx="16">
                  <c:v>0.5662</c:v>
                </c:pt>
                <c:pt idx="17">
                  <c:v>0.5701</c:v>
                </c:pt>
                <c:pt idx="18">
                  <c:v>0.577</c:v>
                </c:pt>
                <c:pt idx="19">
                  <c:v>0.5736</c:v>
                </c:pt>
                <c:pt idx="20">
                  <c:v>0.5829</c:v>
                </c:pt>
                <c:pt idx="21">
                  <c:v>0.5809</c:v>
                </c:pt>
                <c:pt idx="22">
                  <c:v>0.5827</c:v>
                </c:pt>
                <c:pt idx="23">
                  <c:v>0.5835</c:v>
                </c:pt>
                <c:pt idx="24">
                  <c:v>0.5921</c:v>
                </c:pt>
                <c:pt idx="25">
                  <c:v>0.5908</c:v>
                </c:pt>
                <c:pt idx="26">
                  <c:v>0.5918</c:v>
                </c:pt>
                <c:pt idx="27">
                  <c:v>0.5957</c:v>
                </c:pt>
                <c:pt idx="28">
                  <c:v>0.5965</c:v>
                </c:pt>
                <c:pt idx="29">
                  <c:v>0.6006</c:v>
                </c:pt>
                <c:pt idx="30">
                  <c:v>0.5989</c:v>
                </c:pt>
                <c:pt idx="31">
                  <c:v>0.6007</c:v>
                </c:pt>
                <c:pt idx="32">
                  <c:v>0.5987</c:v>
                </c:pt>
                <c:pt idx="33">
                  <c:v>0.6017</c:v>
                </c:pt>
                <c:pt idx="34">
                  <c:v>0.6086</c:v>
                </c:pt>
                <c:pt idx="35">
                  <c:v>0.6063</c:v>
                </c:pt>
                <c:pt idx="36">
                  <c:v>0.6087</c:v>
                </c:pt>
                <c:pt idx="37">
                  <c:v>0.612</c:v>
                </c:pt>
                <c:pt idx="38">
                  <c:v>0.613</c:v>
                </c:pt>
                <c:pt idx="39">
                  <c:v>0.6149</c:v>
                </c:pt>
                <c:pt idx="40">
                  <c:v>0.6163</c:v>
                </c:pt>
                <c:pt idx="41">
                  <c:v>0.6176</c:v>
                </c:pt>
                <c:pt idx="42">
                  <c:v>0.6177</c:v>
                </c:pt>
                <c:pt idx="43">
                  <c:v>0.6203</c:v>
                </c:pt>
                <c:pt idx="44">
                  <c:v>0.6224</c:v>
                </c:pt>
                <c:pt idx="45">
                  <c:v>0.6226</c:v>
                </c:pt>
                <c:pt idx="46">
                  <c:v>0.6242</c:v>
                </c:pt>
                <c:pt idx="47">
                  <c:v>0.6245</c:v>
                </c:pt>
                <c:pt idx="48">
                  <c:v>0.6273</c:v>
                </c:pt>
                <c:pt idx="49">
                  <c:v>0.6246</c:v>
                </c:pt>
                <c:pt idx="50">
                  <c:v>0.6297</c:v>
                </c:pt>
                <c:pt idx="51">
                  <c:v>0.6281</c:v>
                </c:pt>
                <c:pt idx="52">
                  <c:v>0.6297</c:v>
                </c:pt>
                <c:pt idx="53">
                  <c:v>0.6312</c:v>
                </c:pt>
                <c:pt idx="54">
                  <c:v>0.6299</c:v>
                </c:pt>
                <c:pt idx="55">
                  <c:v>0.6308</c:v>
                </c:pt>
                <c:pt idx="56">
                  <c:v>0.6309</c:v>
                </c:pt>
                <c:pt idx="57">
                  <c:v>0.632</c:v>
                </c:pt>
                <c:pt idx="58">
                  <c:v>0.6347</c:v>
                </c:pt>
                <c:pt idx="59">
                  <c:v>0.6335</c:v>
                </c:pt>
                <c:pt idx="60">
                  <c:v>0.6327</c:v>
                </c:pt>
                <c:pt idx="61">
                  <c:v>0.6359</c:v>
                </c:pt>
                <c:pt idx="62">
                  <c:v>0.6357</c:v>
                </c:pt>
                <c:pt idx="63">
                  <c:v>0.6368</c:v>
                </c:pt>
                <c:pt idx="64">
                  <c:v>0.6383</c:v>
                </c:pt>
                <c:pt idx="65">
                  <c:v>0.6379</c:v>
                </c:pt>
                <c:pt idx="66">
                  <c:v>0.638</c:v>
                </c:pt>
                <c:pt idx="67">
                  <c:v>0.6393</c:v>
                </c:pt>
                <c:pt idx="68">
                  <c:v>0.6391</c:v>
                </c:pt>
                <c:pt idx="69">
                  <c:v>0.6408</c:v>
                </c:pt>
                <c:pt idx="70">
                  <c:v>0.6409</c:v>
                </c:pt>
                <c:pt idx="71">
                  <c:v>0.6406</c:v>
                </c:pt>
                <c:pt idx="72">
                  <c:v>0.6411</c:v>
                </c:pt>
                <c:pt idx="73">
                  <c:v>0.6404</c:v>
                </c:pt>
                <c:pt idx="74">
                  <c:v>0.6421</c:v>
                </c:pt>
                <c:pt idx="75">
                  <c:v>0.6417</c:v>
                </c:pt>
                <c:pt idx="76">
                  <c:v>0.6433</c:v>
                </c:pt>
                <c:pt idx="77">
                  <c:v>0.643</c:v>
                </c:pt>
                <c:pt idx="78">
                  <c:v>0.6426</c:v>
                </c:pt>
                <c:pt idx="79">
                  <c:v>0.6432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86A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6EF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86A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E557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E5577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4E5577"/>
                </a:solidFill>
                <a:latin typeface="+mn-lt"/>
              </a:rPr>
              <a:t>验证集指标随 epoch 变化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mAP@0.5</c:v>
                </c:pt>
              </c:strCache>
            </c:strRef>
          </c:tx>
          <c:spPr>
            <a:solidFill>
              <a:srgbClr val="1A1F3D"/>
            </a:solidFill>
            <a:ln w="25400" cap="flat">
              <a:solidFill>
                <a:srgbClr val="1A1F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A1F3D"/>
              </a:solidFill>
              <a:ln w="9525" cap="flat">
                <a:solidFill>
                  <a:srgbClr val="1A1F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Sheet1!$A$2:$A$51</c:f>
              <c:multiLvlStrCache>
                <c:ptCount val="5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</c:lvl>
              </c:multiLvlStrCache>
            </c:multiLvlStrRef>
          </c:cat>
          <c:val>
            <c:numRef>
              <c:f>Sheet1!$B$2:$B$51</c:f>
              <c:numCache>
                <c:formatCode>General</c:formatCode>
                <c:ptCount val="50"/>
                <c:pt idx="0">
                  <c:v>0.2327</c:v>
                </c:pt>
                <c:pt idx="1">
                  <c:v>0.3746</c:v>
                </c:pt>
                <c:pt idx="2">
                  <c:v>0.4441</c:v>
                </c:pt>
                <c:pt idx="3">
                  <c:v>0.5311</c:v>
                </c:pt>
                <c:pt idx="4">
                  <c:v>0.5825</c:v>
                </c:pt>
                <c:pt idx="5">
                  <c:v>0.6754</c:v>
                </c:pt>
                <c:pt idx="6">
                  <c:v>0.6229</c:v>
                </c:pt>
                <c:pt idx="7">
                  <c:v>0.6708</c:v>
                </c:pt>
                <c:pt idx="8">
                  <c:v>0.7043</c:v>
                </c:pt>
                <c:pt idx="9">
                  <c:v>0.7344</c:v>
                </c:pt>
                <c:pt idx="10">
                  <c:v>0.7182</c:v>
                </c:pt>
                <c:pt idx="11">
                  <c:v>0.7314</c:v>
                </c:pt>
                <c:pt idx="12">
                  <c:v>0.7707</c:v>
                </c:pt>
                <c:pt idx="13">
                  <c:v>0.7382</c:v>
                </c:pt>
                <c:pt idx="14">
                  <c:v>0.774</c:v>
                </c:pt>
                <c:pt idx="15">
                  <c:v>0.7631</c:v>
                </c:pt>
                <c:pt idx="16">
                  <c:v>0.799</c:v>
                </c:pt>
                <c:pt idx="17">
                  <c:v>0.787</c:v>
                </c:pt>
                <c:pt idx="18">
                  <c:v>0.7934</c:v>
                </c:pt>
                <c:pt idx="19">
                  <c:v>0.8144</c:v>
                </c:pt>
                <c:pt idx="20">
                  <c:v>0.7889</c:v>
                </c:pt>
                <c:pt idx="21">
                  <c:v>0.7896</c:v>
                </c:pt>
                <c:pt idx="22">
                  <c:v>0.7763</c:v>
                </c:pt>
                <c:pt idx="23">
                  <c:v>0.8092</c:v>
                </c:pt>
                <c:pt idx="24">
                  <c:v>0.8197</c:v>
                </c:pt>
                <c:pt idx="25">
                  <c:v>0.822</c:v>
                </c:pt>
                <c:pt idx="26">
                  <c:v>0.8074</c:v>
                </c:pt>
                <c:pt idx="27">
                  <c:v>0.8165</c:v>
                </c:pt>
                <c:pt idx="28">
                  <c:v>0.8291</c:v>
                </c:pt>
                <c:pt idx="29">
                  <c:v>0.8432</c:v>
                </c:pt>
                <c:pt idx="30">
                  <c:v>0.8473</c:v>
                </c:pt>
                <c:pt idx="31">
                  <c:v>0.831</c:v>
                </c:pt>
                <c:pt idx="32">
                  <c:v>0.8624</c:v>
                </c:pt>
                <c:pt idx="33">
                  <c:v>0.8773</c:v>
                </c:pt>
                <c:pt idx="34">
                  <c:v>0.8627</c:v>
                </c:pt>
                <c:pt idx="35">
                  <c:v>0.8458</c:v>
                </c:pt>
                <c:pt idx="36">
                  <c:v>0.8631</c:v>
                </c:pt>
                <c:pt idx="37">
                  <c:v>0.8802</c:v>
                </c:pt>
                <c:pt idx="38">
                  <c:v>0.8733</c:v>
                </c:pt>
                <c:pt idx="39">
                  <c:v>0.8885</c:v>
                </c:pt>
                <c:pt idx="40">
                  <c:v>0.8629</c:v>
                </c:pt>
                <c:pt idx="41">
                  <c:v>0.8798</c:v>
                </c:pt>
                <c:pt idx="42">
                  <c:v>0.8903</c:v>
                </c:pt>
                <c:pt idx="43">
                  <c:v>0.8693</c:v>
                </c:pt>
                <c:pt idx="44">
                  <c:v>0.8767</c:v>
                </c:pt>
                <c:pt idx="45">
                  <c:v>0.8815</c:v>
                </c:pt>
                <c:pt idx="46">
                  <c:v>0.8832</c:v>
                </c:pt>
                <c:pt idx="47">
                  <c:v>0.8874</c:v>
                </c:pt>
                <c:pt idx="48">
                  <c:v>0.8892</c:v>
                </c:pt>
                <c:pt idx="49">
                  <c:v>0.8927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mAP@0.5:0.95</c:v>
                </c:pt>
              </c:strCache>
            </c:strRef>
          </c:tx>
          <c:spPr>
            <a:solidFill>
              <a:srgbClr val="9AA4D6"/>
            </a:solidFill>
            <a:ln w="25400" cap="flat">
              <a:solidFill>
                <a:srgbClr val="9AA4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4D6"/>
              </a:solidFill>
              <a:ln w="9525" cap="flat">
                <a:solidFill>
                  <a:srgbClr val="9AA4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Sheet1!$A$2:$A$51</c:f>
              <c:multiLvlStrCache>
                <c:ptCount val="5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</c:lvl>
              </c:multiLvlStrCache>
            </c:multiLvlStrRef>
          </c:cat>
          <c:val>
            <c:numRef>
              <c:f>Sheet1!$C$2:$C$51</c:f>
              <c:numCache>
                <c:formatCode>General</c:formatCode>
                <c:ptCount val="50"/>
                <c:pt idx="0">
                  <c:v>0.1623</c:v>
                </c:pt>
                <c:pt idx="1">
                  <c:v>0.2636</c:v>
                </c:pt>
                <c:pt idx="2">
                  <c:v>0.2993</c:v>
                </c:pt>
                <c:pt idx="3">
                  <c:v>0.3789</c:v>
                </c:pt>
                <c:pt idx="4">
                  <c:v>0.4159</c:v>
                </c:pt>
                <c:pt idx="5">
                  <c:v>0.4868</c:v>
                </c:pt>
                <c:pt idx="6">
                  <c:v>0.4644</c:v>
                </c:pt>
                <c:pt idx="7">
                  <c:v>0.5074</c:v>
                </c:pt>
                <c:pt idx="8">
                  <c:v>0.5195</c:v>
                </c:pt>
                <c:pt idx="9">
                  <c:v>0.5507</c:v>
                </c:pt>
                <c:pt idx="10">
                  <c:v>0.5495</c:v>
                </c:pt>
                <c:pt idx="11">
                  <c:v>0.5503</c:v>
                </c:pt>
                <c:pt idx="12">
                  <c:v>0.5827</c:v>
                </c:pt>
                <c:pt idx="13">
                  <c:v>0.5715</c:v>
                </c:pt>
                <c:pt idx="14">
                  <c:v>0.5959</c:v>
                </c:pt>
                <c:pt idx="15">
                  <c:v>0.5972</c:v>
                </c:pt>
                <c:pt idx="16">
                  <c:v>0.6179</c:v>
                </c:pt>
                <c:pt idx="17">
                  <c:v>0.6149</c:v>
                </c:pt>
                <c:pt idx="18">
                  <c:v>0.6285</c:v>
                </c:pt>
                <c:pt idx="19">
                  <c:v>0.6344</c:v>
                </c:pt>
                <c:pt idx="20">
                  <c:v>0.6152</c:v>
                </c:pt>
                <c:pt idx="21">
                  <c:v>0.6214</c:v>
                </c:pt>
                <c:pt idx="22">
                  <c:v>0.598</c:v>
                </c:pt>
                <c:pt idx="23">
                  <c:v>0.6368</c:v>
                </c:pt>
                <c:pt idx="24">
                  <c:v>0.6418</c:v>
                </c:pt>
                <c:pt idx="25">
                  <c:v>0.6621</c:v>
                </c:pt>
                <c:pt idx="26">
                  <c:v>0.6421</c:v>
                </c:pt>
                <c:pt idx="27">
                  <c:v>0.6464</c:v>
                </c:pt>
                <c:pt idx="28">
                  <c:v>0.6532</c:v>
                </c:pt>
                <c:pt idx="29">
                  <c:v>0.6686</c:v>
                </c:pt>
                <c:pt idx="30">
                  <c:v>0.6795</c:v>
                </c:pt>
                <c:pt idx="31">
                  <c:v>0.669</c:v>
                </c:pt>
                <c:pt idx="32">
                  <c:v>0.7032</c:v>
                </c:pt>
                <c:pt idx="33">
                  <c:v>0.7202</c:v>
                </c:pt>
                <c:pt idx="34">
                  <c:v>0.7056</c:v>
                </c:pt>
                <c:pt idx="35">
                  <c:v>0.6877</c:v>
                </c:pt>
                <c:pt idx="36">
                  <c:v>0.6939</c:v>
                </c:pt>
                <c:pt idx="37">
                  <c:v>0.7166</c:v>
                </c:pt>
                <c:pt idx="38">
                  <c:v>0.7111</c:v>
                </c:pt>
                <c:pt idx="39">
                  <c:v>0.7276</c:v>
                </c:pt>
                <c:pt idx="40">
                  <c:v>0.6963</c:v>
                </c:pt>
                <c:pt idx="41">
                  <c:v>0.7236</c:v>
                </c:pt>
                <c:pt idx="42">
                  <c:v>0.7305</c:v>
                </c:pt>
                <c:pt idx="43">
                  <c:v>0.7188</c:v>
                </c:pt>
                <c:pt idx="44">
                  <c:v>0.7223</c:v>
                </c:pt>
                <c:pt idx="45">
                  <c:v>0.7224</c:v>
                </c:pt>
                <c:pt idx="46">
                  <c:v>0.7191</c:v>
                </c:pt>
                <c:pt idx="47">
                  <c:v>0.7307</c:v>
                </c:pt>
                <c:pt idx="48">
                  <c:v>0.7344</c:v>
                </c:pt>
                <c:pt idx="49">
                  <c:v>0.7373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86A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6EF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86A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E557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开场：不是又一套天花板监控，而是放在每张实验桌上的安全终端：识别风险、现场提醒、必要时由硬件断电。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现有监控只记录已发生的事：事故发生时不能干预，事故发生前不能预警。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俯拍看不清台面细节：器皿种类、离桌边距离、温度都分辨不出；几十路画面也不可能有人实时盯守。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防患于未然：先识别风险并现场提醒；风险继续升级，由控制盒直接切断加热电源。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全景摄像头跑人员模型（12 类：五类防护及其未佩戴类、进食、饮水），台面摄像头跑器皿模型（14 类）。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人员模型 80 轮，mAP@0.5 为 89.0%；器皿模型 50 轮，mAP@0.5 为 89.3%，mAP@0.5:0.95 为 73.7%。这是验证集上的检测指标，不是事故识别准确率。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检测结果先过时间窗口投票：3 s 窗口内命中帧占比 ≥60% 才确认，≤20% 才解除，单帧误检不会触发提醒。NPU 单帧推理人员 120 ms、器皿 116 ms。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演示：摘下护目镜时温和提示；咬一口苹果再提示，小屏逐条列出要做的事；分数叠加后信号灯变红。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学生是第一用户：目标是减少火灾和伤害。每张实验桌一台终端，判断在本机完成，断网也照常工作。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第一个分叉：交叉验证是多源规则打分，不是机器学习里的交叉验证。30 分以下低危，70 分以上高危，低中危温和语气，高危严厉语气。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第二个分叉：同一事件三层各自定级。吃苹果对学生是高危，对老师只记知会，对实验楼不打扰；断电锁定三层都是最高。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安全助手读取打分结果和安全手册，写原因、步骤和条款；三条线路：通义千问、本地 Ollama、离线规则模板。工具表只有 4 个只读工具。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断电链路：开发板发 POWER_OFF，控制盒断继电器回 ACK，0.25 s 超时重发最多 3 次，往返中位 4.9 ms。控制盒另有 150℃、烟雾 2500、心跳 30 s 的本地硬规则。只断不通。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总后台三个视角：学生端视角吃苹果那张桌是红的；实验室视角变绿；实验楼视角只剩断电锁定那张红、加热无人那张标关注。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管理员对应实验楼，教师只管被授权的区域；阈值按区域下发，终端按硬上限再校验；语音包、复核、审计都在总后台。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三个独立程序：控制盒固件、实验台终端 run_app.py、总后台 run_center.py。安全判断在 SafetyEngine 里，所有界面只读快照。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心跳不是定时器发的：只有安全判断每次跑完调用 feed()，发送线程才发心跳。程序卡死 5 s 心跳就停，控制盒 30 s 收不到心跳且仍在加热就本地断电。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帧格式：AA 55 帧头、长度、序号、命令、负载、CRC16-CCITT 小端。断电指令要 ACK，0.25 s 超时重发，最多 3 次。固件和仿真下位机共用这一协议。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分层上报只是在同一份打分上做三次过滤：老师层去掉行为因子，实验楼层只看断电锁定和紧急事件。等级随快照上报，不参与断电。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只断不通、大模型不碰电闸，这些约束都写成了测试：扫描路由和工具名。三套测试共 212 个用例，不需要硬件。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实物运行照片：整机、控制盒接线、现场提醒。在 PowerPoint 里右键占位图 → 更改图片，位置和尺寸会保留。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总结：看清台面、按风险分级提醒、三层各自定级、危险时硬件断电、总后台管全楼。出发点是让做实验的同学在出事之前就被提醒。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3108960"/>
            <a:ext cx="10360152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4892040"/>
            <a:ext cx="10360152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758952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基于双摄协同的实验室安全事前干预监测系统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3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758952" y="1527048"/>
            <a:ext cx="5330952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照片 1：实验台终端整机运行</a:t>
            </a:r>
            <a:endParaRPr lang="en-US" dirty="0"/>
          </a:p>
        </p:txBody>
      </p:sp>
      <p:sp>
        <p:nvSpPr>
          <p:cNvPr id="4" name="Text 0"/>
          <p:cNvSpPr/>
          <p:nvPr>
            <p:ph idx="102" hasCustomPrompt="1"/>
          </p:nvPr>
        </p:nvSpPr>
        <p:spPr>
          <a:xfrm>
            <a:off x="6400800" y="1527048"/>
            <a:ext cx="502920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照片 2：控制盒与传感器接线</a:t>
            </a:r>
            <a:endParaRPr lang="en-US" dirty="0"/>
          </a:p>
        </p:txBody>
      </p:sp>
      <p:sp>
        <p:nvSpPr>
          <p:cNvPr id="5" name="Text 0"/>
          <p:cNvSpPr/>
          <p:nvPr>
            <p:ph idx="103" hasCustomPrompt="1"/>
          </p:nvPr>
        </p:nvSpPr>
        <p:spPr>
          <a:xfrm>
            <a:off x="6400800" y="3858768"/>
            <a:ext cx="502920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照片 3：小屏提醒或总后台联调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758952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基于双摄协同的实验室安全事前干预监测系统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310896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基于双摄协同的实验室安全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事前干预监测系统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914400" y="4892040"/>
            <a:ext cx="10360152" cy="548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放在每一张实验桌上的安全终端</a:t>
            </a:r>
            <a:endParaRPr lang="en-US" sz="1800" dirty="0"/>
          </a:p>
        </p:txBody>
      </p:sp>
      <p:sp>
        <p:nvSpPr>
          <p:cNvPr id="5" name="信号灯（片头）"/>
          <p:cNvSpPr/>
          <p:nvPr/>
        </p:nvSpPr>
        <p:spPr>
          <a:xfrm>
            <a:off x="5707380" y="2151380"/>
            <a:ext cx="777240" cy="77724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879600" y="0"/>
            <a:ext cx="50800" cy="1111250"/>
          </a:xfrm>
          <a:prstGeom prst="rect">
            <a:avLst/>
          </a:prstGeom>
          <a:solidFill>
            <a:srgbClr val="CDD2E3"/>
          </a:solidFill>
          <a:ln/>
        </p:spPr>
      </p:sp>
      <p:sp>
        <p:nvSpPr>
          <p:cNvPr id="4" name="Shape 1"/>
          <p:cNvSpPr/>
          <p:nvPr/>
        </p:nvSpPr>
        <p:spPr>
          <a:xfrm>
            <a:off x="1143000" y="1079500"/>
            <a:ext cx="1587500" cy="76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228600" dist="76200" dir="5400000">
              <a:srgbClr val="262E6E">
                <a:alpha val="18000"/>
              </a:srgbClr>
            </a:outerShdw>
          </a:effectLst>
        </p:spPr>
      </p:sp>
      <p:sp>
        <p:nvSpPr>
          <p:cNvPr id="5" name="监控镜头"/>
          <p:cNvSpPr/>
          <p:nvPr/>
        </p:nvSpPr>
        <p:spPr>
          <a:xfrm>
            <a:off x="2060956" y="1222756"/>
            <a:ext cx="475488" cy="475488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969DB8">
                <a:alpha val="5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4826000" y="14605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监控只能事后回看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826000" y="228600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2"/>
                </a:solidFill>
              </a:rPr>
              <a:t>天花板监控记录的是已经发生的事。事故发生时它不能干预，事故发生前它也不能预警。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826000" y="3302000"/>
            <a:ext cx="1170432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26000" y="3302000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事故发生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069584" y="3576320"/>
            <a:ext cx="292608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435344" y="3302000"/>
            <a:ext cx="1170432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35344" y="3302000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录像存档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678928" y="3576320"/>
            <a:ext cx="292608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8044688" y="3302000"/>
            <a:ext cx="1170432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4688" y="3302000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事后调取</a:t>
            </a:r>
            <a:endParaRPr lang="en-US" sz="16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879600" y="0"/>
            <a:ext cx="50800" cy="1111250"/>
          </a:xfrm>
          <a:prstGeom prst="rect">
            <a:avLst/>
          </a:prstGeom>
          <a:solidFill>
            <a:srgbClr val="CDD2E3"/>
          </a:solidFill>
          <a:ln/>
        </p:spPr>
      </p:sp>
      <p:sp>
        <p:nvSpPr>
          <p:cNvPr id="4" name="Shape 1"/>
          <p:cNvSpPr/>
          <p:nvPr/>
        </p:nvSpPr>
        <p:spPr>
          <a:xfrm>
            <a:off x="1143000" y="1079500"/>
            <a:ext cx="1587500" cy="76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228600" dist="76200" dir="5400000">
              <a:srgbClr val="262E6E">
                <a:alpha val="18000"/>
              </a:srgbClr>
            </a:outerShdw>
          </a:effectLst>
        </p:spPr>
      </p:sp>
      <p:sp>
        <p:nvSpPr>
          <p:cNvPr id="5" name="监控镜头"/>
          <p:cNvSpPr/>
          <p:nvPr/>
        </p:nvSpPr>
        <p:spPr>
          <a:xfrm>
            <a:off x="2060956" y="1222756"/>
            <a:ext cx="475488" cy="475488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969DB8">
                <a:alpha val="5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298700" y="1663700"/>
            <a:ext cx="2527300" cy="4051300"/>
          </a:xfrm>
          <a:prstGeom prst="rtTriangle">
            <a:avLst/>
          </a:prstGeom>
          <a:solidFill>
            <a:schemeClr val="accent4">
              <a:alpha val="8000"/>
            </a:scheme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8952" y="2413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看得到人，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看不清台面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355600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俯拍画面里分辨不出器皿种类、离桌边的距离和温度。一间实验室几十路画面，也不可能有人实时盯守。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826000" y="2032000"/>
            <a:ext cx="6477000" cy="3683000"/>
          </a:xfrm>
          <a:prstGeom prst="roundRect">
            <a:avLst>
              <a:gd name="adj" fmla="val 3972"/>
            </a:avLst>
          </a:prstGeom>
          <a:solidFill>
            <a:srgbClr val="E8EBF4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34000" y="2794000"/>
            <a:ext cx="1333500" cy="571500"/>
          </a:xfrm>
          <a:prstGeom prst="roundRect">
            <a:avLst>
              <a:gd name="adj" fmla="val 12800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1" name="Shape 8"/>
          <p:cNvSpPr/>
          <p:nvPr/>
        </p:nvSpPr>
        <p:spPr>
          <a:xfrm>
            <a:off x="7366000" y="2794000"/>
            <a:ext cx="1333500" cy="571500"/>
          </a:xfrm>
          <a:prstGeom prst="roundRect">
            <a:avLst>
              <a:gd name="adj" fmla="val 12800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2" name="Shape 9"/>
          <p:cNvSpPr/>
          <p:nvPr/>
        </p:nvSpPr>
        <p:spPr>
          <a:xfrm>
            <a:off x="9398000" y="2794000"/>
            <a:ext cx="1333500" cy="571500"/>
          </a:xfrm>
          <a:prstGeom prst="roundRect">
            <a:avLst>
              <a:gd name="adj" fmla="val 12800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3" name="Shape 10"/>
          <p:cNvSpPr/>
          <p:nvPr/>
        </p:nvSpPr>
        <p:spPr>
          <a:xfrm>
            <a:off x="5334000" y="4318000"/>
            <a:ext cx="1333500" cy="571500"/>
          </a:xfrm>
          <a:prstGeom prst="roundRect">
            <a:avLst>
              <a:gd name="adj" fmla="val 12800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4" name="Shape 11"/>
          <p:cNvSpPr/>
          <p:nvPr/>
        </p:nvSpPr>
        <p:spPr>
          <a:xfrm>
            <a:off x="7366000" y="4318000"/>
            <a:ext cx="1333500" cy="571500"/>
          </a:xfrm>
          <a:prstGeom prst="roundRect">
            <a:avLst>
              <a:gd name="adj" fmla="val 12800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5" name="Shape 12"/>
          <p:cNvSpPr/>
          <p:nvPr/>
        </p:nvSpPr>
        <p:spPr>
          <a:xfrm>
            <a:off x="9398000" y="4318000"/>
            <a:ext cx="1333500" cy="571500"/>
          </a:xfrm>
          <a:prstGeom prst="roundRect">
            <a:avLst>
              <a:gd name="adj" fmla="val 12800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6" name="Shape 13"/>
          <p:cNvSpPr/>
          <p:nvPr/>
        </p:nvSpPr>
        <p:spPr>
          <a:xfrm>
            <a:off x="8191500" y="3302000"/>
            <a:ext cx="2159000" cy="2159000"/>
          </a:xfrm>
          <a:prstGeom prst="ellipse">
            <a:avLst/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228600" dist="76200" dir="5400000">
              <a:srgbClr val="262E6E">
                <a:alpha val="2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191500" y="3302000"/>
            <a:ext cx="2159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2"/>
                </a:solidFill>
              </a:rPr>
              <a:t>烧杯还是量筒？</a:t>
            </a:r>
            <a:endParaRPr lang="en-US" sz="1700" dirty="0"/>
          </a:p>
          <a:p>
            <a:pPr algn="ctr" indent="0" marL="0">
              <a:lnSpc>
                <a:spcPct val="140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2"/>
                </a:solidFill>
              </a:rPr>
              <a:t>离桌边多远？</a:t>
            </a:r>
            <a:endParaRPr lang="en-US" sz="1700" dirty="0"/>
          </a:p>
          <a:p>
            <a:pPr algn="ctr" indent="0" marL="0">
              <a:lnSpc>
                <a:spcPct val="140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2"/>
                </a:solidFill>
              </a:rPr>
              <a:t>热源多少度？</a:t>
            </a:r>
            <a:endParaRPr lang="en-US" sz="17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信号灯"/>
          <p:cNvSpPr/>
          <p:nvPr/>
        </p:nvSpPr>
        <p:spPr>
          <a:xfrm>
            <a:off x="1304036" y="1304036"/>
            <a:ext cx="566928" cy="56692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1270000" y="2095500"/>
            <a:ext cx="9144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tx1"/>
                </a:solidFill>
              </a:rPr>
              <a:t>防患于未然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1270000" y="40640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2"/>
                </a:solidFill>
              </a:rPr>
              <a:t>在事故发生之前识别风险：先在现场提醒操作者；风险继续升级，由控制盒直接切断加热电源。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270000" y="5207000"/>
            <a:ext cx="1773936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70000" y="520700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 识别风险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117088" y="5481320"/>
            <a:ext cx="292608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482848" y="5207000"/>
            <a:ext cx="1773936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82848" y="520700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 现场提醒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329936" y="5481320"/>
            <a:ext cx="292608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695696" y="5207000"/>
            <a:ext cx="1773936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695696" y="520700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 硬件断电</a:t>
            </a:r>
            <a:endParaRPr lang="en-US" sz="16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两路摄像头分工：全景看人，台面看器皿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1016000" y="1714500"/>
            <a:ext cx="4953000" cy="4064000"/>
          </a:xfrm>
          <a:prstGeom prst="roundRect">
            <a:avLst>
              <a:gd name="adj" fmla="val 36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235456" y="19156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全景摄像头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393440" y="195224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人员模型，12 类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1235456" y="2464308"/>
            <a:ext cx="4514088" cy="1691640"/>
          </a:xfrm>
          <a:prstGeom prst="roundRect">
            <a:avLst>
              <a:gd name="adj" fmla="val 6486"/>
            </a:avLst>
          </a:prstGeom>
          <a:solidFill>
            <a:srgbClr val="EEF1F8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936240" y="2628900"/>
            <a:ext cx="566928" cy="566928"/>
          </a:xfrm>
          <a:prstGeom prst="ellipse">
            <a:avLst/>
          </a:prstGeom>
          <a:solidFill>
            <a:srgbClr val="C9CEE2"/>
          </a:solidFill>
          <a:ln/>
        </p:spPr>
      </p:sp>
      <p:sp>
        <p:nvSpPr>
          <p:cNvPr id="9" name="Shape 6"/>
          <p:cNvSpPr/>
          <p:nvPr/>
        </p:nvSpPr>
        <p:spPr>
          <a:xfrm>
            <a:off x="2689352" y="3250692"/>
            <a:ext cx="1069848" cy="822960"/>
          </a:xfrm>
          <a:prstGeom prst="roundRect">
            <a:avLst>
              <a:gd name="adj" fmla="val 33333"/>
            </a:avLst>
          </a:prstGeom>
          <a:solidFill>
            <a:srgbClr val="D7DBEA"/>
          </a:solidFill>
          <a:ln/>
        </p:spPr>
      </p:sp>
      <p:sp>
        <p:nvSpPr>
          <p:cNvPr id="10" name="Shape 7"/>
          <p:cNvSpPr/>
          <p:nvPr/>
        </p:nvSpPr>
        <p:spPr>
          <a:xfrm>
            <a:off x="2881376" y="2674620"/>
            <a:ext cx="676656" cy="274320"/>
          </a:xfrm>
          <a:prstGeom prst="rect">
            <a:avLst/>
          </a:prstGeom>
          <a:ln w="19050">
            <a:solidFill>
              <a:schemeClr val="accent3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2881376" y="242773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</a:rPr>
              <a:t>No googles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35456" y="4320540"/>
            <a:ext cx="4514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护目镜　手套　实验服　口罩　头罩　以上五项的未佩戴类　进食　饮水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223000" y="1714500"/>
            <a:ext cx="4953000" cy="4064000"/>
          </a:xfrm>
          <a:prstGeom prst="roundRect">
            <a:avLst>
              <a:gd name="adj" fmla="val 36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2456" y="19156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台面摄像头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600440" y="195224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器皿模型，14 类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442456" y="2464308"/>
            <a:ext cx="4514088" cy="1691640"/>
          </a:xfrm>
          <a:prstGeom prst="roundRect">
            <a:avLst>
              <a:gd name="adj" fmla="val 6486"/>
            </a:avLst>
          </a:prstGeom>
          <a:solidFill>
            <a:srgbClr val="EEF1F8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594600" y="2903220"/>
            <a:ext cx="731520" cy="914400"/>
          </a:xfrm>
          <a:prstGeom prst="roundRect">
            <a:avLst>
              <a:gd name="adj" fmla="val 10000"/>
            </a:avLst>
          </a:prstGeom>
          <a:solidFill>
            <a:schemeClr val="accent4">
              <a:alpha val="30000"/>
            </a:schemeClr>
          </a:solidFill>
          <a:ln w="19050">
            <a:solidFill>
              <a:srgbClr val="9AA4D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521448" y="2811780"/>
            <a:ext cx="877824" cy="1097280"/>
          </a:xfrm>
          <a:prstGeom prst="rect">
            <a:avLst/>
          </a:prstGeom>
          <a:ln w="19050">
            <a:solidFill>
              <a:schemeClr val="accent1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521448" y="259232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Beaker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331960" y="2628900"/>
            <a:ext cx="329184" cy="1188720"/>
          </a:xfrm>
          <a:prstGeom prst="roundRect">
            <a:avLst>
              <a:gd name="adj" fmla="val 13889"/>
            </a:avLst>
          </a:prstGeom>
          <a:solidFill>
            <a:schemeClr val="accent4">
              <a:alpha val="20000"/>
            </a:schemeClr>
          </a:solidFill>
          <a:ln w="19050">
            <a:solidFill>
              <a:srgbClr val="9AA4D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258808" y="2574036"/>
            <a:ext cx="475488" cy="1298448"/>
          </a:xfrm>
          <a:prstGeom prst="rect">
            <a:avLst/>
          </a:prstGeom>
          <a:ln w="19050">
            <a:solidFill>
              <a:schemeClr val="accent2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8600440" y="23545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Measuring Cylinder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442456" y="4320540"/>
            <a:ext cx="4514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烧杯　锥形瓶　圆底烧瓶　平底烧瓶　梨形瓶　试管　量筒　容量瓶　滴定管　移液管　试剂瓶　洗瓶　漏斗　滴定装置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58952" y="593725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检测框标签为模型原始类别名。两个模型共享一套推理线程，按配置的帧率轮流推理。</a:t>
            </a:r>
            <a:endParaRPr lang="en-US" sz="1200" dirty="0"/>
          </a:p>
        </p:txBody>
      </p:sp>
      <p:sp>
        <p:nvSpPr>
          <p:cNvPr id="25" name="信号灯"/>
          <p:cNvSpPr/>
          <p:nvPr/>
        </p:nvSpPr>
        <p:spPr>
          <a:xfrm>
            <a:off x="11050016" y="16393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YOLO11n 微调，各约 2.59 M 参数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1016000" y="1714500"/>
            <a:ext cx="4953000" cy="4191000"/>
          </a:xfrm>
          <a:prstGeom prst="roundRect">
            <a:avLst>
              <a:gd name="adj" fmla="val 3491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235456" y="19156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人员模型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027680" y="196138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全景摄像头，12 类，80 epoch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235456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89.0%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235456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mAP@0.5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369312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83.4%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2369312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Precision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503168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87.7%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3503168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Recall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637024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64.3%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4637024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mAP@0.5:0.95</a:t>
            </a:r>
            <a:endParaRPr lang="en-US" sz="11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1153160" y="3268980"/>
          <a:ext cx="46786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2"/>
          <p:cNvSpPr/>
          <p:nvPr/>
        </p:nvSpPr>
        <p:spPr>
          <a:xfrm>
            <a:off x="6223000" y="1714500"/>
            <a:ext cx="4953000" cy="4191000"/>
          </a:xfrm>
          <a:prstGeom prst="roundRect">
            <a:avLst>
              <a:gd name="adj" fmla="val 3491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42456" y="19156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器皿模型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8234680" y="196138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台面摄像头，14 类，50 epoch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442456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89.3%</a:t>
            </a:r>
            <a:endParaRPr lang="en-US" sz="2400" dirty="0"/>
          </a:p>
        </p:txBody>
      </p:sp>
      <p:sp>
        <p:nvSpPr>
          <p:cNvPr id="20" name="Text 16"/>
          <p:cNvSpPr txBox="1"/>
          <p:nvPr/>
        </p:nvSpPr>
        <p:spPr>
          <a:xfrm>
            <a:off x="6442456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mAP@0.5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576312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86.7%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7576312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Precision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8710168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85.1%</a:t>
            </a:r>
            <a:endParaRPr lang="en-US" sz="2400" dirty="0"/>
          </a:p>
        </p:txBody>
      </p:sp>
      <p:sp>
        <p:nvSpPr>
          <p:cNvPr id="24" name="Text 20"/>
          <p:cNvSpPr txBox="1"/>
          <p:nvPr/>
        </p:nvSpPr>
        <p:spPr>
          <a:xfrm>
            <a:off x="8710168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Recall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844024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73.7%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9844024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mAP@0.5:0.95</a:t>
            </a:r>
            <a:endParaRPr lang="en-US" sz="1100" dirty="0"/>
          </a:p>
        </p:txBody>
      </p:sp>
      <p:graphicFrame>
        <p:nvGraphicFramePr>
          <p:cNvPr id="27" name="Chart 1" descr=""/>
          <p:cNvGraphicFramePr/>
          <p:nvPr/>
        </p:nvGraphicFramePr>
        <p:xfrm>
          <a:off x="6360160" y="3268980"/>
          <a:ext cx="46786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Text 23"/>
          <p:cNvSpPr txBox="1"/>
          <p:nvPr/>
        </p:nvSpPr>
        <p:spPr>
          <a:xfrm>
            <a:off x="758952" y="1346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指标为训练结束时验证集上的目标检测指标，数据来自 models/model_card.json</a:t>
            </a:r>
            <a:endParaRPr lang="en-US" sz="1200" dirty="0"/>
          </a:p>
        </p:txBody>
      </p:sp>
      <p:sp>
        <p:nvSpPr>
          <p:cNvPr id="29" name="信号灯"/>
          <p:cNvSpPr/>
          <p:nvPr/>
        </p:nvSpPr>
        <p:spPr>
          <a:xfrm>
            <a:off x="11084560" y="861060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从检测框到事件：时间窗口投票</a:t>
            </a:r>
            <a:endParaRPr lang="en-US" sz="3200" dirty="0"/>
          </a:p>
        </p:txBody>
      </p:sp>
      <p:sp>
        <p:nvSpPr>
          <p:cNvPr id="4" name="代码块"/>
          <p:cNvSpPr/>
          <p:nvPr/>
        </p:nvSpPr>
        <p:spPr>
          <a:xfrm>
            <a:off x="758952" y="1651000"/>
            <a:ext cx="5715000" cy="2849880"/>
          </a:xfrm>
          <a:prstGeom prst="roundRect">
            <a:avLst>
              <a:gd name="adj" fmla="val 4492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41832" y="17424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TemporalVoter.update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LabSafetyMonitor/dual_inference.py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873752" y="17424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L169–180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41832" y="2108200"/>
            <a:ext cx="5349240" cy="2301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kind in kinds: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self.hist.setdefault(kind, deque())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d.append((now, kind in hits))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d and now - d[0][0] &gt; self.window: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d.popleft()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len(d) &lt; self.min_frames: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continue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ratio = sum(1 for _, h in d if h) / len(d)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self.active.get(kind) and ratio &gt;= self.on_ratio: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self.active[kind] = True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self.active.get(kind) and ratio &lt;= self.off_ratio: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self.active[kind] = False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175500" y="165100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窗口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638540" y="16510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window_s = 3.0 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175500" y="2089912"/>
            <a:ext cx="3977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5500" y="2089912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确认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38540" y="2089912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命中帧占比 ≥ 60%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175500" y="2528824"/>
            <a:ext cx="3977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75500" y="2528824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解除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38540" y="2528824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命中帧占比 ≤ 20%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175500" y="2967736"/>
            <a:ext cx="3977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75500" y="296773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最少帧数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638540" y="2967736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175500" y="355600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确认和解除用两个阈值，形成滞回，单帧误检不会触发提醒，事件也不会在边界上反复跳变。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175500" y="444500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NPU 单帧推理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638540" y="44450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人员 120 ms / 器皿 116 ms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175500" y="4883912"/>
            <a:ext cx="3977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75500" y="4883912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模型格式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638540" y="4883912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RKNN → ONNX → .pt 依次回退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175500" y="54610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RK3588 实测，rknn-toolkit2 2.3.2，FP16；tools/check_npu.py 对比检测结果与 .pt 一致</a:t>
            </a:r>
            <a:endParaRPr lang="en-US" sz="1200" dirty="0"/>
          </a:p>
        </p:txBody>
      </p:sp>
      <p:sp>
        <p:nvSpPr>
          <p:cNvPr id="26" name="信号灯"/>
          <p:cNvSpPr/>
          <p:nvPr/>
        </p:nvSpPr>
        <p:spPr>
          <a:xfrm>
            <a:off x="6639560" y="1559560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演示：吃苹果的同学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58952" y="1381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2"/>
                </a:solidFill>
              </a:rPr>
              <a:t>摘下头罩、护目镜、口罩，在实验台前吃苹果。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889000" y="2286000"/>
            <a:ext cx="5588000" cy="3352800"/>
          </a:xfrm>
          <a:prstGeom prst="roundRect">
            <a:avLst>
              <a:gd name="adj" fmla="val 8182"/>
            </a:avLst>
          </a:prstGeom>
          <a:solidFill>
            <a:srgbClr val="F7F8FC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54100" y="2451100"/>
            <a:ext cx="5257800" cy="3022600"/>
          </a:xfrm>
          <a:prstGeom prst="roundRect">
            <a:avLst>
              <a:gd name="adj" fmla="val 423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4100" y="2933700"/>
            <a:ext cx="5257800" cy="0"/>
          </a:xfrm>
          <a:prstGeom prst="rect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54100" y="5016500"/>
            <a:ext cx="5257800" cy="0"/>
          </a:xfrm>
          <a:prstGeom prst="rect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00200" y="2451100"/>
            <a:ext cx="18288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高危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848860" y="2451100"/>
            <a:ext cx="132588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实验台小屏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91260" y="3022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待处理事项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191260" y="3276600"/>
            <a:ext cx="2148840" cy="301752"/>
          </a:xfrm>
          <a:prstGeom prst="roundRect">
            <a:avLst>
              <a:gd name="adj" fmla="val 18182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282700" y="32766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A3221B"/>
                </a:solidFill>
              </a:rPr>
              <a:t>停止饮食，到实验区外进食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91260" y="3642360"/>
            <a:ext cx="2148840" cy="301752"/>
          </a:xfrm>
          <a:prstGeom prst="roundRect">
            <a:avLst>
              <a:gd name="adj" fmla="val 18182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282700" y="364236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4300"/>
                </a:solidFill>
              </a:rPr>
              <a:t>佩戴护目镜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191260" y="4008120"/>
            <a:ext cx="2148840" cy="301752"/>
          </a:xfrm>
          <a:prstGeom prst="roundRect">
            <a:avLst>
              <a:gd name="adj" fmla="val 18182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282700" y="400812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4300"/>
                </a:solidFill>
              </a:rPr>
              <a:t>佩戴口罩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191260" y="4373880"/>
            <a:ext cx="2148840" cy="301752"/>
          </a:xfrm>
          <a:prstGeom prst="roundRect">
            <a:avLst>
              <a:gd name="adj" fmla="val 18182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282700" y="437388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4300"/>
                </a:solidFill>
              </a:rPr>
              <a:t>佩戴头罩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568700" y="3022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热源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568700" y="3276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未加热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4986020" y="3022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防护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986020" y="3276600"/>
            <a:ext cx="685800" cy="292608"/>
          </a:xfrm>
          <a:prstGeom prst="roundRect">
            <a:avLst>
              <a:gd name="adj" fmla="val 18750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986020" y="327660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A3221B"/>
                </a:solidFill>
              </a:rPr>
              <a:t>护目镜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735828" y="3276600"/>
            <a:ext cx="685800" cy="292608"/>
          </a:xfrm>
          <a:prstGeom prst="roundRect">
            <a:avLst>
              <a:gd name="adj" fmla="val 18750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735828" y="327660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C6B42"/>
                </a:solidFill>
              </a:rPr>
              <a:t>实验服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86020" y="3642360"/>
            <a:ext cx="685800" cy="292608"/>
          </a:xfrm>
          <a:prstGeom prst="roundRect">
            <a:avLst>
              <a:gd name="adj" fmla="val 18750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986020" y="364236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C6B42"/>
                </a:solidFill>
              </a:rPr>
              <a:t>手套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735828" y="3642360"/>
            <a:ext cx="685800" cy="292608"/>
          </a:xfrm>
          <a:prstGeom prst="roundRect">
            <a:avLst>
              <a:gd name="adj" fmla="val 18750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735828" y="364236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A3221B"/>
                </a:solidFill>
              </a:rPr>
              <a:t>口罩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054100" y="5016500"/>
            <a:ext cx="87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状态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930400" y="5016500"/>
            <a:ext cx="87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画面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806700" y="5016500"/>
            <a:ext cx="87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记录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3683000" y="5016500"/>
            <a:ext cx="87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静音 60s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4559300" y="5016500"/>
            <a:ext cx="87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呼叫教师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435600" y="5016500"/>
            <a:ext cx="87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A3221B"/>
                </a:solidFill>
              </a:rPr>
              <a:t>断电</a:t>
            </a:r>
            <a:endParaRPr lang="en-US" sz="1200" dirty="0"/>
          </a:p>
        </p:txBody>
      </p:sp>
      <p:sp>
        <p:nvSpPr>
          <p:cNvPr id="37" name="信号灯"/>
          <p:cNvSpPr/>
          <p:nvPr/>
        </p:nvSpPr>
        <p:spPr>
          <a:xfrm>
            <a:off x="1242822" y="2582672"/>
            <a:ext cx="219456" cy="219456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03A32">
                <a:alpha val="5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8000" y="2540000"/>
            <a:ext cx="4445000" cy="1143000"/>
          </a:xfrm>
          <a:prstGeom prst="roundRect">
            <a:avLst>
              <a:gd name="adj" fmla="val 128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203200" dist="63500" dir="5400000">
              <a:srgbClr val="262E6E">
                <a:alpha val="16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7086600" y="2704592"/>
            <a:ext cx="123444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40" name="Shape 37"/>
          <p:cNvSpPr/>
          <p:nvPr/>
        </p:nvSpPr>
        <p:spPr>
          <a:xfrm>
            <a:off x="7214616" y="28326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379208" y="2704592"/>
            <a:ext cx="905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温和语气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12480" y="270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语音提示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7086600" y="3106928"/>
            <a:ext cx="398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「同学，记得戴好护目镜哦，眼睛只有一双。」</a:t>
            </a:r>
            <a:endParaRPr lang="en-US" sz="1800" dirty="0"/>
          </a:p>
        </p:txBody>
      </p:sp>
      <p:sp>
        <p:nvSpPr>
          <p:cNvPr id="44" name="Shape 41"/>
          <p:cNvSpPr/>
          <p:nvPr/>
        </p:nvSpPr>
        <p:spPr>
          <a:xfrm>
            <a:off x="6858000" y="4064000"/>
            <a:ext cx="4445000" cy="1143000"/>
          </a:xfrm>
          <a:prstGeom prst="roundRect">
            <a:avLst>
              <a:gd name="adj" fmla="val 128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203200" dist="63500" dir="5400000">
              <a:srgbClr val="262E6E">
                <a:alpha val="16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7086600" y="4228592"/>
            <a:ext cx="123444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46" name="Shape 43"/>
          <p:cNvSpPr/>
          <p:nvPr/>
        </p:nvSpPr>
        <p:spPr>
          <a:xfrm>
            <a:off x="7214616" y="43566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379208" y="4228592"/>
            <a:ext cx="905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温和语气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12480" y="4228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语音提示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7086600" y="4630928"/>
            <a:ext cx="398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「实验区不能吃东西喝水哦，请到室外再吃。」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学生是第一用户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58952" y="14630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2"/>
                </a:solidFill>
              </a:rPr>
              <a:t>系统的首要目标是减少火灾和人身伤害，而不是记录违规。所以提醒先发给台前的学生，管理端只接收需要处理的事件。</a:t>
            </a:r>
            <a:endParaRPr lang="en-US" sz="2000" dirty="0"/>
          </a:p>
        </p:txBody>
      </p:sp>
      <p:sp>
        <p:nvSpPr>
          <p:cNvPr id="5" name="信号灯"/>
          <p:cNvSpPr/>
          <p:nvPr/>
        </p:nvSpPr>
        <p:spPr>
          <a:xfrm>
            <a:off x="1177036" y="5177536"/>
            <a:ext cx="566928" cy="56692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095500" y="3937000"/>
            <a:ext cx="2834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95500" y="4119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每张实验桌一台终端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095500" y="462280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RK3588 开发板、两路 USB 摄像头、控制盒与传感器、小屏；硬件采购估算 1000–1350 元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113020" y="3937000"/>
            <a:ext cx="2834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13020" y="4119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判断在本机完成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113020" y="462280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识别、打分和断电不依赖网络；与总后台断开时终端照常工作，恢复后自动重连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130540" y="3937000"/>
            <a:ext cx="2834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30540" y="41198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小屏按现场设计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8130540" y="462280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按钮不小于 64 px，戴手套可操作；状态同时用颜色、形状和文字表示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第一个分叉：风险分三级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58952" y="13716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2"/>
                </a:solidFill>
              </a:rPr>
              <a:t>交叉验证（多源规则打分）：人员模型、器皿模型、传感器和温度预测的结果合在一起计分，30 分为中危界，70 分为高危界，可按区域调整。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524000" y="3530600"/>
            <a:ext cx="2743200" cy="54864"/>
          </a:xfrm>
          <a:prstGeom prst="rect">
            <a:avLst/>
          </a:prstGeom>
          <a:solidFill>
            <a:schemeClr val="accent1">
              <a:alpha val="55000"/>
            </a:schemeClr>
          </a:solidFill>
          <a:ln/>
        </p:spPr>
      </p:sp>
      <p:sp>
        <p:nvSpPr>
          <p:cNvPr id="6" name="Shape 3"/>
          <p:cNvSpPr/>
          <p:nvPr/>
        </p:nvSpPr>
        <p:spPr>
          <a:xfrm>
            <a:off x="4267200" y="3530600"/>
            <a:ext cx="3657600" cy="54864"/>
          </a:xfrm>
          <a:prstGeom prst="rect">
            <a:avLst/>
          </a:prstGeom>
          <a:solidFill>
            <a:schemeClr val="accent2">
              <a:alpha val="55000"/>
            </a:schemeClr>
          </a:solidFill>
          <a:ln/>
        </p:spPr>
      </p:sp>
      <p:sp>
        <p:nvSpPr>
          <p:cNvPr id="7" name="Shape 4"/>
          <p:cNvSpPr/>
          <p:nvPr/>
        </p:nvSpPr>
        <p:spPr>
          <a:xfrm>
            <a:off x="7924800" y="3530600"/>
            <a:ext cx="2743200" cy="54864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8" name="Shape 5"/>
          <p:cNvSpPr/>
          <p:nvPr/>
        </p:nvSpPr>
        <p:spPr>
          <a:xfrm>
            <a:off x="1524000" y="3640328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58240" y="3786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67200" y="3640328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01440" y="3786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924800" y="3640328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59040" y="3786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0668000" y="3640328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302240" y="3786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300" dirty="0"/>
          </a:p>
        </p:txBody>
      </p:sp>
      <p:sp>
        <p:nvSpPr>
          <p:cNvPr id="16" name="信号灯"/>
          <p:cNvSpPr/>
          <p:nvPr/>
        </p:nvSpPr>
        <p:spPr>
          <a:xfrm>
            <a:off x="2758440" y="341884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17" name="信号灯"/>
          <p:cNvSpPr/>
          <p:nvPr/>
        </p:nvSpPr>
        <p:spPr>
          <a:xfrm>
            <a:off x="7330440" y="34188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C9808">
                <a:alpha val="55000"/>
              </a:srgbClr>
            </a:outerShdw>
          </a:effectLst>
        </p:spPr>
      </p:sp>
      <p:sp>
        <p:nvSpPr>
          <p:cNvPr id="18" name="信号灯"/>
          <p:cNvSpPr/>
          <p:nvPr/>
        </p:nvSpPr>
        <p:spPr>
          <a:xfrm>
            <a:off x="10530840" y="3418840"/>
            <a:ext cx="274320" cy="27432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03A32">
                <a:alpha val="55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1524000" y="4318000"/>
            <a:ext cx="2794000" cy="1600200"/>
          </a:xfrm>
          <a:prstGeom prst="roundRect">
            <a:avLst>
              <a:gd name="adj" fmla="val 9143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706880" y="4500880"/>
            <a:ext cx="1554480" cy="347472"/>
          </a:xfrm>
          <a:prstGeom prst="roundRect">
            <a:avLst>
              <a:gd name="adj" fmla="val 2105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1" name="Shape 18"/>
          <p:cNvSpPr/>
          <p:nvPr/>
        </p:nvSpPr>
        <p:spPr>
          <a:xfrm>
            <a:off x="1834896" y="4628896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999488" y="450088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C6B42"/>
                </a:solidFill>
              </a:rPr>
              <a:t>低危　15 分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6880" y="4958080"/>
            <a:ext cx="242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未加热，整理器皿时未戴手套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706880" y="5461000"/>
            <a:ext cx="242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温和提示：佩戴手套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699000" y="4318000"/>
            <a:ext cx="2794000" cy="1600200"/>
          </a:xfrm>
          <a:prstGeom prst="roundRect">
            <a:avLst>
              <a:gd name="adj" fmla="val 9143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881880" y="4500880"/>
            <a:ext cx="155448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27" name="Shape 24"/>
          <p:cNvSpPr/>
          <p:nvPr/>
        </p:nvSpPr>
        <p:spPr>
          <a:xfrm>
            <a:off x="5009896" y="4628896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4488" y="450088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中危　65 分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881880" y="4958080"/>
            <a:ext cx="242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加热中台面有量筒，且未戴护目镜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4881880" y="5461000"/>
            <a:ext cx="242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移出量器，改用烧杯或锥形瓶加热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7874000" y="4318000"/>
            <a:ext cx="2794000" cy="1600200"/>
          </a:xfrm>
          <a:prstGeom prst="roundRect">
            <a:avLst>
              <a:gd name="adj" fmla="val 9143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56880" y="4500880"/>
            <a:ext cx="15544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33" name="Shape 30"/>
          <p:cNvSpPr/>
          <p:nvPr/>
        </p:nvSpPr>
        <p:spPr>
          <a:xfrm>
            <a:off x="8184896" y="4628896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349488" y="450088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高危　100 分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056880" y="4958080"/>
            <a:ext cx="242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越过沸点仍在升温，液体可能已烧干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056880" y="5461000"/>
            <a:ext cx="242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严厉语气：立即降低火力或补充液体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第二个分叉：同一事件，三层各自定级</a:t>
            </a:r>
            <a:endParaRPr lang="en-US" sz="3200" dirty="0"/>
          </a:p>
        </p:txBody>
      </p:sp>
      <p:sp>
        <p:nvSpPr>
          <p:cNvPr id="4" name="信号灯"/>
          <p:cNvSpPr/>
          <p:nvPr/>
        </p:nvSpPr>
        <p:spPr>
          <a:xfrm>
            <a:off x="5469128" y="1544828"/>
            <a:ext cx="237744" cy="237744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03A32">
                <a:alpha val="5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4490720" y="1905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学生端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4490720" y="22524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语音提示、小屏</a:t>
            </a:r>
            <a:endParaRPr lang="en-US" sz="1200" dirty="0"/>
          </a:p>
        </p:txBody>
      </p:sp>
      <p:sp>
        <p:nvSpPr>
          <p:cNvPr id="7" name="信号灯"/>
          <p:cNvSpPr/>
          <p:nvPr/>
        </p:nvSpPr>
        <p:spPr>
          <a:xfrm>
            <a:off x="7710678" y="1544828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C9808">
                <a:alpha val="5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732270" y="1905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实验室老师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732270" y="22524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处置队列、群消息</a:t>
            </a:r>
            <a:endParaRPr lang="en-US" sz="1200" dirty="0"/>
          </a:p>
        </p:txBody>
      </p:sp>
      <p:sp>
        <p:nvSpPr>
          <p:cNvPr id="10" name="信号灯"/>
          <p:cNvSpPr/>
          <p:nvPr/>
        </p:nvSpPr>
        <p:spPr>
          <a:xfrm>
            <a:off x="9952228" y="1544828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973820" y="1905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实验楼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973820" y="22524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处置队列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58952" y="2540000"/>
            <a:ext cx="3200400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60120" y="2540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摘口罩、吃苹果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929632" y="26405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16" name="Shape 13"/>
          <p:cNvSpPr/>
          <p:nvPr/>
        </p:nvSpPr>
        <p:spPr>
          <a:xfrm>
            <a:off x="5057648" y="2768600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22240" y="26405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严厉干预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1182" y="26405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9" name="Shape 16"/>
          <p:cNvSpPr/>
          <p:nvPr/>
        </p:nvSpPr>
        <p:spPr>
          <a:xfrm>
            <a:off x="7299198" y="2768600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63790" y="26405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C6B42"/>
                </a:solidFill>
              </a:rPr>
              <a:t>仅记录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9412732" y="26405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2" name="Shape 19"/>
          <p:cNvSpPr/>
          <p:nvPr/>
        </p:nvSpPr>
        <p:spPr>
          <a:xfrm>
            <a:off x="9540748" y="2768600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9705340" y="26405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C6B42"/>
                </a:solidFill>
              </a:rPr>
              <a:t>无需介入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58952" y="3225800"/>
            <a:ext cx="3200400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0120" y="32258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加热时台面有量筒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4929632" y="33263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27" name="Shape 24"/>
          <p:cNvSpPr/>
          <p:nvPr/>
        </p:nvSpPr>
        <p:spPr>
          <a:xfrm>
            <a:off x="5057648" y="3454400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22240" y="33263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温和提醒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171182" y="33263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30" name="Shape 27"/>
          <p:cNvSpPr/>
          <p:nvPr/>
        </p:nvSpPr>
        <p:spPr>
          <a:xfrm>
            <a:off x="7299198" y="3454400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463790" y="33263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需关注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9412732" y="33263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33" name="Shape 30"/>
          <p:cNvSpPr/>
          <p:nvPr/>
        </p:nvSpPr>
        <p:spPr>
          <a:xfrm>
            <a:off x="9540748" y="3454400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705340" y="33263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C6B42"/>
                </a:solidFill>
              </a:rPr>
              <a:t>无需介入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8952" y="3911600"/>
            <a:ext cx="3200400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0120" y="3911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越过沸点仍升温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4929632" y="40121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38" name="Shape 35"/>
          <p:cNvSpPr/>
          <p:nvPr/>
        </p:nvSpPr>
        <p:spPr>
          <a:xfrm>
            <a:off x="5057648" y="4140200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222240" y="40121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严厉干预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171182" y="40121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41" name="Shape 38"/>
          <p:cNvSpPr/>
          <p:nvPr/>
        </p:nvSpPr>
        <p:spPr>
          <a:xfrm>
            <a:off x="7299198" y="4140200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463790" y="40121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立即处置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9412732" y="40121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44" name="Shape 41"/>
          <p:cNvSpPr/>
          <p:nvPr/>
        </p:nvSpPr>
        <p:spPr>
          <a:xfrm>
            <a:off x="9540748" y="4140200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705340" y="40121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关注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58952" y="4597400"/>
            <a:ext cx="3200400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60120" y="459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断电锁定、烟雾超标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4929632" y="46979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49" name="Shape 46"/>
          <p:cNvSpPr/>
          <p:nvPr/>
        </p:nvSpPr>
        <p:spPr>
          <a:xfrm>
            <a:off x="5057648" y="4826000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222240" y="46979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严厉干预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1182" y="46979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52" name="Shape 49"/>
          <p:cNvSpPr/>
          <p:nvPr/>
        </p:nvSpPr>
        <p:spPr>
          <a:xfrm>
            <a:off x="7299198" y="4826000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463790" y="46979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立即处置</a:t>
            </a:r>
            <a:endParaRPr lang="en-US" sz="1400" dirty="0"/>
          </a:p>
        </p:txBody>
      </p:sp>
      <p:sp>
        <p:nvSpPr>
          <p:cNvPr id="54" name="Shape 51"/>
          <p:cNvSpPr/>
          <p:nvPr/>
        </p:nvSpPr>
        <p:spPr>
          <a:xfrm>
            <a:off x="9412732" y="46979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55" name="Shape 52"/>
          <p:cNvSpPr/>
          <p:nvPr/>
        </p:nvSpPr>
        <p:spPr>
          <a:xfrm>
            <a:off x="9540748" y="4826000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705340" y="46979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需介入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758952" y="57785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学生端计入全部因子；实验室老师只计入加热、温度、烟雾、断电和学生呼叫，行为违规仅作知会；实验楼只计入断电锁定和紧急事件。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安全助手：只读，只建议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58952" y="1508760"/>
            <a:ext cx="5715000" cy="3246120"/>
          </a:xfrm>
          <a:prstGeom prst="roundRect">
            <a:avLst>
              <a:gd name="adj" fmla="val 450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600200" y="1691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处置建议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737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警告与紧急事件自动生成</a:t>
            </a:r>
            <a:endParaRPr lang="en-US" sz="1200" dirty="0"/>
          </a:p>
        </p:txBody>
      </p:sp>
      <p:sp>
        <p:nvSpPr>
          <p:cNvPr id="7" name="信号灯"/>
          <p:cNvSpPr/>
          <p:nvPr/>
        </p:nvSpPr>
        <p:spPr>
          <a:xfrm>
            <a:off x="1343660" y="1813560"/>
            <a:ext cx="182880" cy="18288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03A32">
                <a:alpha val="5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33272" y="228600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风险等级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13432" y="228600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高危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033272" y="2724912"/>
            <a:ext cx="52120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33272" y="27249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当前工况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313432" y="2724912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加热中（沸腾 / 高温阶段）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033272" y="3163824"/>
            <a:ext cx="52120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33272" y="316382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主要依据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313432" y="3163824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越过沸点仍在升温；干烧风险分 0.70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33272" y="3602736"/>
            <a:ext cx="52120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33272" y="360273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处置步骤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313432" y="360273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1. 立即降低火力或补充液体；2. 回到实验台查看液面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33272" y="4041648"/>
            <a:ext cx="52120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33272" y="404164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手册条款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313432" y="4041648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《实验室安全手册》1.3 沸腾阶段的注意事项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949440" y="150876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2"/>
                </a:solidFill>
              </a:rPr>
              <a:t>读取交叉验证结果和安全手册（BM25 检索），生成原因、步骤和条款引用。工具表只有 4 个只读工具，没有任何电源控制接口。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6949440" y="320040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accent6"/>
                </a:solidFill>
              </a:rPr>
              <a:t>远程通义千问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9326880" y="320040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联网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6949440" y="3639312"/>
            <a:ext cx="448056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949440" y="363931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accent6"/>
                </a:solidFill>
              </a:rPr>
              <a:t>本地 Ollama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9326880" y="363931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局域网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949440" y="4078224"/>
            <a:ext cx="448056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949440" y="4078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accent6"/>
                </a:solidFill>
              </a:rPr>
              <a:t>规则模板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9326880" y="4078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离线兜底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最后一道防线：只断不通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1016000" y="1905000"/>
            <a:ext cx="1905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16000" y="2014728"/>
            <a:ext cx="190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开发板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1016000" y="2380488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规则判定需断电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048000" y="2343912"/>
            <a:ext cx="196850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048000" y="1978152"/>
            <a:ext cx="196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POWER_OFF 0x02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143500" y="1905000"/>
            <a:ext cx="1905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43500" y="2014728"/>
            <a:ext cx="190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控制盒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5143500" y="2380488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ESP32-S3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175500" y="2343912"/>
            <a:ext cx="196850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7175500" y="1978152"/>
            <a:ext cx="196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断开继电器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271000" y="1905000"/>
            <a:ext cx="1905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71000" y="2014728"/>
            <a:ext cx="190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加热电源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71000" y="2380488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已断开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58952" y="27940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控制盒回 ACK；0.25 s 未收到则重发，最多 3 次。真机实测 ACK 往返时延中位数 4.9 ms。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016000" y="3556000"/>
            <a:ext cx="3048000" cy="20955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333500" y="3873500"/>
            <a:ext cx="192024" cy="192024"/>
          </a:xfrm>
          <a:prstGeom prst="ellipse">
            <a:avLst/>
          </a:prstGeom>
          <a:solidFill>
            <a:srgbClr val="E3E6EF"/>
          </a:solidFill>
          <a:ln/>
        </p:spPr>
      </p:sp>
      <p:sp>
        <p:nvSpPr>
          <p:cNvPr id="20" name="Shape 17"/>
          <p:cNvSpPr/>
          <p:nvPr/>
        </p:nvSpPr>
        <p:spPr>
          <a:xfrm>
            <a:off x="1653540" y="3873500"/>
            <a:ext cx="192024" cy="192024"/>
          </a:xfrm>
          <a:prstGeom prst="ellipse">
            <a:avLst/>
          </a:prstGeom>
          <a:solidFill>
            <a:srgbClr val="E3E6EF"/>
          </a:solidFill>
          <a:ln/>
        </p:spPr>
      </p:sp>
      <p:sp>
        <p:nvSpPr>
          <p:cNvPr id="21" name="Shape 18"/>
          <p:cNvSpPr/>
          <p:nvPr/>
        </p:nvSpPr>
        <p:spPr>
          <a:xfrm>
            <a:off x="1973580" y="3873500"/>
            <a:ext cx="192024" cy="192024"/>
          </a:xfrm>
          <a:prstGeom prst="ellipse">
            <a:avLst/>
          </a:prstGeom>
          <a:solidFill>
            <a:srgbClr val="E3E6EF"/>
          </a:solidFill>
          <a:ln/>
        </p:spPr>
      </p:sp>
      <p:sp>
        <p:nvSpPr>
          <p:cNvPr id="22" name="信号灯"/>
          <p:cNvSpPr/>
          <p:nvPr/>
        </p:nvSpPr>
        <p:spPr>
          <a:xfrm>
            <a:off x="1328166" y="386816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03A32">
                <a:alpha val="5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124200" y="4711700"/>
            <a:ext cx="584200" cy="5842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DDE0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124200" y="4711700"/>
            <a:ext cx="5842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</a:rPr>
              <a:t>长按 2 秒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333500" y="5207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控制盒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72000" y="3429000"/>
            <a:ext cx="320040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开发板规则（可按区域调整）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86791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R1 热源 ≥ 120℃</a:t>
            </a:r>
            <a:endParaRPr lang="en-US" sz="16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R3 加热中无人 60 s</a:t>
            </a:r>
            <a:endParaRPr lang="en-US" sz="16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R5 烟雾读数 ≥ 1800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001000" y="3429000"/>
            <a:ext cx="320040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00100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控制盒本地硬规则（写在固件里）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001000" y="386791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热源 ≥ 150℃</a:t>
            </a:r>
            <a:endParaRPr lang="en-US" sz="16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烟雾读数 ≥ 2500</a:t>
            </a:r>
            <a:endParaRPr lang="en-US" sz="16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心跳中断 30 s 且仍在加热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4572000" y="5080000"/>
            <a:ext cx="65836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72000" y="5262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恢复供电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943600" y="52628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软件和总后台都没有通电接口。复电只能在现场长按控制键 2 秒，控制盒先复查温度和烟雾，超标则拒绝。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总后台：同一栋楼，三个视角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58952" y="1554480"/>
            <a:ext cx="3429000" cy="4480560"/>
          </a:xfrm>
          <a:prstGeom prst="roundRect">
            <a:avLst>
              <a:gd name="adj" fmla="val 42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1832" y="1719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学生端视角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41832" y="2084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与实验台上的提醒一致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941832" y="2450592"/>
            <a:ext cx="96012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8" name="Shape 5"/>
          <p:cNvSpPr/>
          <p:nvPr/>
        </p:nvSpPr>
        <p:spPr>
          <a:xfrm>
            <a:off x="1069848" y="2578608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34440" y="2450592"/>
            <a:ext cx="630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高危 3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993392" y="2450592"/>
            <a:ext cx="96012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11" name="Shape 8"/>
          <p:cNvSpPr/>
          <p:nvPr/>
        </p:nvSpPr>
        <p:spPr>
          <a:xfrm>
            <a:off x="2121408" y="25786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286000" y="2450592"/>
            <a:ext cx="630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中危 3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44677" y="3017520"/>
            <a:ext cx="1044131" cy="2651760"/>
          </a:xfrm>
          <a:prstGeom prst="roundRect">
            <a:avLst>
              <a:gd name="adj" fmla="val 437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1253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一楼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959102" y="3017520"/>
            <a:ext cx="1086993" cy="2651760"/>
          </a:xfrm>
          <a:prstGeom prst="roundRect">
            <a:avLst>
              <a:gd name="adj" fmla="val 4206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995678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二楼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116390" y="3017520"/>
            <a:ext cx="1044131" cy="2651760"/>
          </a:xfrm>
          <a:prstGeom prst="roundRect">
            <a:avLst>
              <a:gd name="adj" fmla="val 437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52966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三楼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921830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76110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A01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1221867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176147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A02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921830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76110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A03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1221867" y="4400093"/>
            <a:ext cx="274320" cy="384048"/>
          </a:xfrm>
          <a:prstGeom prst="roundRect">
            <a:avLst>
              <a:gd name="adj" fmla="val 13333"/>
            </a:avLst>
          </a:prstGeom>
          <a:ln w="9525">
            <a:solidFill>
              <a:schemeClr val="accent6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1176147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A04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1586198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540478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B01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1586198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540478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B02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2036255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990535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C01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336292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290572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C02</a:t>
            </a:r>
            <a:endParaRPr lang="en-US" sz="700" dirty="0"/>
          </a:p>
        </p:txBody>
      </p:sp>
      <p:sp>
        <p:nvSpPr>
          <p:cNvPr id="35" name="Shape 32"/>
          <p:cNvSpPr/>
          <p:nvPr/>
        </p:nvSpPr>
        <p:spPr>
          <a:xfrm>
            <a:off x="2036255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990535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C03</a:t>
            </a:r>
            <a:endParaRPr lang="en-US" sz="700" dirty="0"/>
          </a:p>
        </p:txBody>
      </p:sp>
      <p:sp>
        <p:nvSpPr>
          <p:cNvPr id="37" name="Shape 34"/>
          <p:cNvSpPr/>
          <p:nvPr/>
        </p:nvSpPr>
        <p:spPr>
          <a:xfrm>
            <a:off x="2722055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676335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D01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2722055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676335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D02</a:t>
            </a:r>
            <a:endParaRPr lang="en-US" sz="700" dirty="0"/>
          </a:p>
        </p:txBody>
      </p:sp>
      <p:sp>
        <p:nvSpPr>
          <p:cNvPr id="41" name="Shape 38"/>
          <p:cNvSpPr/>
          <p:nvPr/>
        </p:nvSpPr>
        <p:spPr>
          <a:xfrm>
            <a:off x="3300698" y="5308641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3254978" y="5308641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E02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3729323" y="5308641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3683603" y="5308641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E01</a:t>
            </a:r>
            <a:endParaRPr lang="en-US" sz="700" dirty="0"/>
          </a:p>
        </p:txBody>
      </p:sp>
      <p:sp>
        <p:nvSpPr>
          <p:cNvPr id="45" name="Shape 42"/>
          <p:cNvSpPr/>
          <p:nvPr/>
        </p:nvSpPr>
        <p:spPr>
          <a:xfrm>
            <a:off x="4370832" y="1554480"/>
            <a:ext cx="3429000" cy="4480560"/>
          </a:xfrm>
          <a:prstGeom prst="roundRect">
            <a:avLst>
              <a:gd name="adj" fmla="val 42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553712" y="1719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实验室视角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4553712" y="2084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只显示需要教师处置的实验桌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4553712" y="2450592"/>
            <a:ext cx="96012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49" name="Shape 46"/>
          <p:cNvSpPr/>
          <p:nvPr/>
        </p:nvSpPr>
        <p:spPr>
          <a:xfrm>
            <a:off x="4681728" y="2578608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4846320" y="2450592"/>
            <a:ext cx="630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高危 2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5605272" y="2450592"/>
            <a:ext cx="96012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52" name="Shape 49"/>
          <p:cNvSpPr/>
          <p:nvPr/>
        </p:nvSpPr>
        <p:spPr>
          <a:xfrm>
            <a:off x="5733288" y="25786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897880" y="2450592"/>
            <a:ext cx="630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中危 1</a:t>
            </a:r>
            <a:endParaRPr lang="en-US" sz="1400" dirty="0"/>
          </a:p>
        </p:txBody>
      </p:sp>
      <p:sp>
        <p:nvSpPr>
          <p:cNvPr id="54" name="Shape 51"/>
          <p:cNvSpPr/>
          <p:nvPr/>
        </p:nvSpPr>
        <p:spPr>
          <a:xfrm>
            <a:off x="4456557" y="3017520"/>
            <a:ext cx="1044131" cy="2651760"/>
          </a:xfrm>
          <a:prstGeom prst="roundRect">
            <a:avLst>
              <a:gd name="adj" fmla="val 437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493133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一楼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5570982" y="3017520"/>
            <a:ext cx="1086993" cy="2651760"/>
          </a:xfrm>
          <a:prstGeom prst="roundRect">
            <a:avLst>
              <a:gd name="adj" fmla="val 4206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607558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二楼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6728270" y="3017520"/>
            <a:ext cx="1044131" cy="2651760"/>
          </a:xfrm>
          <a:prstGeom prst="roundRect">
            <a:avLst>
              <a:gd name="adj" fmla="val 437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764846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三楼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4533710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4487990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A01</a:t>
            </a:r>
            <a:endParaRPr lang="en-US" sz="700" dirty="0"/>
          </a:p>
        </p:txBody>
      </p:sp>
      <p:sp>
        <p:nvSpPr>
          <p:cNvPr id="62" name="Shape 59"/>
          <p:cNvSpPr/>
          <p:nvPr/>
        </p:nvSpPr>
        <p:spPr>
          <a:xfrm>
            <a:off x="4833747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4788027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A02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4533710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4487990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A03</a:t>
            </a:r>
            <a:endParaRPr lang="en-US" sz="700" dirty="0"/>
          </a:p>
        </p:txBody>
      </p:sp>
      <p:sp>
        <p:nvSpPr>
          <p:cNvPr id="66" name="Shape 63"/>
          <p:cNvSpPr/>
          <p:nvPr/>
        </p:nvSpPr>
        <p:spPr>
          <a:xfrm>
            <a:off x="4833747" y="4400093"/>
            <a:ext cx="274320" cy="384048"/>
          </a:xfrm>
          <a:prstGeom prst="roundRect">
            <a:avLst>
              <a:gd name="adj" fmla="val 13333"/>
            </a:avLst>
          </a:prstGeom>
          <a:ln w="9525">
            <a:solidFill>
              <a:schemeClr val="accent6"/>
            </a:solidFill>
            <a:prstDash val="dash"/>
          </a:ln>
        </p:spPr>
      </p:sp>
      <p:sp>
        <p:nvSpPr>
          <p:cNvPr id="67" name="Text 64"/>
          <p:cNvSpPr txBox="1"/>
          <p:nvPr/>
        </p:nvSpPr>
        <p:spPr>
          <a:xfrm>
            <a:off x="4788027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A04</a:t>
            </a:r>
            <a:endParaRPr lang="en-US" sz="700" dirty="0"/>
          </a:p>
        </p:txBody>
      </p:sp>
      <p:sp>
        <p:nvSpPr>
          <p:cNvPr id="68" name="Shape 65"/>
          <p:cNvSpPr/>
          <p:nvPr/>
        </p:nvSpPr>
        <p:spPr>
          <a:xfrm>
            <a:off x="5198078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152358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B01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5198078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5152358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B02</a:t>
            </a:r>
            <a:endParaRPr lang="en-US" sz="700" dirty="0"/>
          </a:p>
        </p:txBody>
      </p:sp>
      <p:sp>
        <p:nvSpPr>
          <p:cNvPr id="72" name="Shape 69"/>
          <p:cNvSpPr/>
          <p:nvPr/>
        </p:nvSpPr>
        <p:spPr>
          <a:xfrm>
            <a:off x="5648135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5602415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C01</a:t>
            </a:r>
            <a:endParaRPr lang="en-US" sz="700" dirty="0"/>
          </a:p>
        </p:txBody>
      </p:sp>
      <p:sp>
        <p:nvSpPr>
          <p:cNvPr id="74" name="Shape 71"/>
          <p:cNvSpPr/>
          <p:nvPr/>
        </p:nvSpPr>
        <p:spPr>
          <a:xfrm>
            <a:off x="5948172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5902452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C02</a:t>
            </a:r>
            <a:endParaRPr lang="en-US" sz="700" dirty="0"/>
          </a:p>
        </p:txBody>
      </p:sp>
      <p:sp>
        <p:nvSpPr>
          <p:cNvPr id="76" name="Shape 73"/>
          <p:cNvSpPr/>
          <p:nvPr/>
        </p:nvSpPr>
        <p:spPr>
          <a:xfrm>
            <a:off x="5648135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5602415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C03</a:t>
            </a:r>
            <a:endParaRPr lang="en-US" sz="700" dirty="0"/>
          </a:p>
        </p:txBody>
      </p:sp>
      <p:sp>
        <p:nvSpPr>
          <p:cNvPr id="78" name="Shape 75"/>
          <p:cNvSpPr/>
          <p:nvPr/>
        </p:nvSpPr>
        <p:spPr>
          <a:xfrm>
            <a:off x="6333935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6288215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D01</a:t>
            </a:r>
            <a:endParaRPr lang="en-US" sz="700" dirty="0"/>
          </a:p>
        </p:txBody>
      </p:sp>
      <p:sp>
        <p:nvSpPr>
          <p:cNvPr id="80" name="Shape 77"/>
          <p:cNvSpPr/>
          <p:nvPr/>
        </p:nvSpPr>
        <p:spPr>
          <a:xfrm>
            <a:off x="6333935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81" name="Text 78"/>
          <p:cNvSpPr txBox="1"/>
          <p:nvPr/>
        </p:nvSpPr>
        <p:spPr>
          <a:xfrm>
            <a:off x="6288215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D02</a:t>
            </a:r>
            <a:endParaRPr lang="en-US" sz="700" dirty="0"/>
          </a:p>
        </p:txBody>
      </p:sp>
      <p:sp>
        <p:nvSpPr>
          <p:cNvPr id="82" name="Shape 79"/>
          <p:cNvSpPr/>
          <p:nvPr/>
        </p:nvSpPr>
        <p:spPr>
          <a:xfrm>
            <a:off x="6912578" y="5308641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6866858" y="5308641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E02</a:t>
            </a:r>
            <a:endParaRPr lang="en-US" sz="700" dirty="0"/>
          </a:p>
        </p:txBody>
      </p:sp>
      <p:sp>
        <p:nvSpPr>
          <p:cNvPr id="84" name="Shape 81"/>
          <p:cNvSpPr/>
          <p:nvPr/>
        </p:nvSpPr>
        <p:spPr>
          <a:xfrm>
            <a:off x="7341203" y="5308641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7295483" y="5308641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E01</a:t>
            </a:r>
            <a:endParaRPr lang="en-US" sz="700" dirty="0"/>
          </a:p>
        </p:txBody>
      </p:sp>
      <p:sp>
        <p:nvSpPr>
          <p:cNvPr id="86" name="Shape 83"/>
          <p:cNvSpPr/>
          <p:nvPr/>
        </p:nvSpPr>
        <p:spPr>
          <a:xfrm>
            <a:off x="7982712" y="1554480"/>
            <a:ext cx="3429000" cy="4480560"/>
          </a:xfrm>
          <a:prstGeom prst="roundRect">
            <a:avLst>
              <a:gd name="adj" fmla="val 42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8165592" y="1719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实验楼视角</a:t>
            </a:r>
            <a:endParaRPr lang="en-US" sz="1800" dirty="0"/>
          </a:p>
        </p:txBody>
      </p:sp>
      <p:sp>
        <p:nvSpPr>
          <p:cNvPr id="88" name="Text 85"/>
          <p:cNvSpPr txBox="1"/>
          <p:nvPr/>
        </p:nvSpPr>
        <p:spPr>
          <a:xfrm>
            <a:off x="8165592" y="2084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只显示断电锁定与紧急事件</a:t>
            </a:r>
            <a:endParaRPr lang="en-US" sz="1100" dirty="0"/>
          </a:p>
        </p:txBody>
      </p:sp>
      <p:sp>
        <p:nvSpPr>
          <p:cNvPr id="89" name="Shape 86"/>
          <p:cNvSpPr/>
          <p:nvPr/>
        </p:nvSpPr>
        <p:spPr>
          <a:xfrm>
            <a:off x="8165592" y="2450592"/>
            <a:ext cx="96012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90" name="Shape 87"/>
          <p:cNvSpPr/>
          <p:nvPr/>
        </p:nvSpPr>
        <p:spPr>
          <a:xfrm>
            <a:off x="8293608" y="2578608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8458200" y="2450592"/>
            <a:ext cx="630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高危 1</a:t>
            </a:r>
            <a:endParaRPr lang="en-US" sz="1400" dirty="0"/>
          </a:p>
        </p:txBody>
      </p:sp>
      <p:sp>
        <p:nvSpPr>
          <p:cNvPr id="92" name="Shape 89"/>
          <p:cNvSpPr/>
          <p:nvPr/>
        </p:nvSpPr>
        <p:spPr>
          <a:xfrm>
            <a:off x="9217152" y="2450592"/>
            <a:ext cx="96012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93" name="Shape 90"/>
          <p:cNvSpPr/>
          <p:nvPr/>
        </p:nvSpPr>
        <p:spPr>
          <a:xfrm>
            <a:off x="9345168" y="25786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9509760" y="2450592"/>
            <a:ext cx="630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中危 1</a:t>
            </a:r>
            <a:endParaRPr lang="en-US" sz="1400" dirty="0"/>
          </a:p>
        </p:txBody>
      </p:sp>
      <p:sp>
        <p:nvSpPr>
          <p:cNvPr id="95" name="Shape 92"/>
          <p:cNvSpPr/>
          <p:nvPr/>
        </p:nvSpPr>
        <p:spPr>
          <a:xfrm>
            <a:off x="8068437" y="3017520"/>
            <a:ext cx="1044131" cy="2651760"/>
          </a:xfrm>
          <a:prstGeom prst="roundRect">
            <a:avLst>
              <a:gd name="adj" fmla="val 437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8105013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一楼</a:t>
            </a:r>
            <a:endParaRPr lang="en-US" sz="900" dirty="0"/>
          </a:p>
        </p:txBody>
      </p:sp>
      <p:sp>
        <p:nvSpPr>
          <p:cNvPr id="97" name="Shape 94"/>
          <p:cNvSpPr/>
          <p:nvPr/>
        </p:nvSpPr>
        <p:spPr>
          <a:xfrm>
            <a:off x="9182862" y="3017520"/>
            <a:ext cx="1086993" cy="2651760"/>
          </a:xfrm>
          <a:prstGeom prst="roundRect">
            <a:avLst>
              <a:gd name="adj" fmla="val 4206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9219438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二楼</a:t>
            </a:r>
            <a:endParaRPr lang="en-US" sz="900" dirty="0"/>
          </a:p>
        </p:txBody>
      </p:sp>
      <p:sp>
        <p:nvSpPr>
          <p:cNvPr id="99" name="Shape 96"/>
          <p:cNvSpPr/>
          <p:nvPr/>
        </p:nvSpPr>
        <p:spPr>
          <a:xfrm>
            <a:off x="10340150" y="3017520"/>
            <a:ext cx="1044131" cy="2651760"/>
          </a:xfrm>
          <a:prstGeom prst="roundRect">
            <a:avLst>
              <a:gd name="adj" fmla="val 437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10376726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三楼</a:t>
            </a:r>
            <a:endParaRPr lang="en-US" sz="900" dirty="0"/>
          </a:p>
        </p:txBody>
      </p:sp>
      <p:sp>
        <p:nvSpPr>
          <p:cNvPr id="101" name="Shape 98"/>
          <p:cNvSpPr/>
          <p:nvPr/>
        </p:nvSpPr>
        <p:spPr>
          <a:xfrm>
            <a:off x="8145590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02" name="Text 99"/>
          <p:cNvSpPr txBox="1"/>
          <p:nvPr/>
        </p:nvSpPr>
        <p:spPr>
          <a:xfrm>
            <a:off x="8099869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A01</a:t>
            </a:r>
            <a:endParaRPr lang="en-US" sz="700" dirty="0"/>
          </a:p>
        </p:txBody>
      </p:sp>
      <p:sp>
        <p:nvSpPr>
          <p:cNvPr id="103" name="Shape 100"/>
          <p:cNvSpPr/>
          <p:nvPr/>
        </p:nvSpPr>
        <p:spPr>
          <a:xfrm>
            <a:off x="8445627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8399907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A02</a:t>
            </a:r>
            <a:endParaRPr lang="en-US" sz="700" dirty="0"/>
          </a:p>
        </p:txBody>
      </p:sp>
      <p:sp>
        <p:nvSpPr>
          <p:cNvPr id="105" name="Shape 102"/>
          <p:cNvSpPr/>
          <p:nvPr/>
        </p:nvSpPr>
        <p:spPr>
          <a:xfrm>
            <a:off x="8145590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06" name="Text 103"/>
          <p:cNvSpPr txBox="1"/>
          <p:nvPr/>
        </p:nvSpPr>
        <p:spPr>
          <a:xfrm>
            <a:off x="8099869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A03</a:t>
            </a:r>
            <a:endParaRPr lang="en-US" sz="700" dirty="0"/>
          </a:p>
        </p:txBody>
      </p:sp>
      <p:sp>
        <p:nvSpPr>
          <p:cNvPr id="107" name="Shape 104"/>
          <p:cNvSpPr/>
          <p:nvPr/>
        </p:nvSpPr>
        <p:spPr>
          <a:xfrm>
            <a:off x="8445627" y="4400093"/>
            <a:ext cx="274320" cy="384048"/>
          </a:xfrm>
          <a:prstGeom prst="roundRect">
            <a:avLst>
              <a:gd name="adj" fmla="val 13333"/>
            </a:avLst>
          </a:prstGeom>
          <a:ln w="9525">
            <a:solidFill>
              <a:schemeClr val="accent6"/>
            </a:solidFill>
            <a:prstDash val="dash"/>
          </a:ln>
        </p:spPr>
      </p:sp>
      <p:sp>
        <p:nvSpPr>
          <p:cNvPr id="108" name="Text 105"/>
          <p:cNvSpPr txBox="1"/>
          <p:nvPr/>
        </p:nvSpPr>
        <p:spPr>
          <a:xfrm>
            <a:off x="8399907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A04</a:t>
            </a:r>
            <a:endParaRPr lang="en-US" sz="700" dirty="0"/>
          </a:p>
        </p:txBody>
      </p:sp>
      <p:sp>
        <p:nvSpPr>
          <p:cNvPr id="109" name="Shape 106"/>
          <p:cNvSpPr/>
          <p:nvPr/>
        </p:nvSpPr>
        <p:spPr>
          <a:xfrm>
            <a:off x="8809958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8764238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B01</a:t>
            </a:r>
            <a:endParaRPr lang="en-US" sz="700" dirty="0"/>
          </a:p>
        </p:txBody>
      </p:sp>
      <p:sp>
        <p:nvSpPr>
          <p:cNvPr id="111" name="Shape 108"/>
          <p:cNvSpPr/>
          <p:nvPr/>
        </p:nvSpPr>
        <p:spPr>
          <a:xfrm>
            <a:off x="8809958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8764238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B02</a:t>
            </a:r>
            <a:endParaRPr lang="en-US" sz="700" dirty="0"/>
          </a:p>
        </p:txBody>
      </p:sp>
      <p:sp>
        <p:nvSpPr>
          <p:cNvPr id="113" name="Shape 110"/>
          <p:cNvSpPr/>
          <p:nvPr/>
        </p:nvSpPr>
        <p:spPr>
          <a:xfrm>
            <a:off x="9260015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14" name="Text 111"/>
          <p:cNvSpPr txBox="1"/>
          <p:nvPr/>
        </p:nvSpPr>
        <p:spPr>
          <a:xfrm>
            <a:off x="9214295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C01</a:t>
            </a:r>
            <a:endParaRPr lang="en-US" sz="700" dirty="0"/>
          </a:p>
        </p:txBody>
      </p:sp>
      <p:sp>
        <p:nvSpPr>
          <p:cNvPr id="115" name="Shape 112"/>
          <p:cNvSpPr/>
          <p:nvPr/>
        </p:nvSpPr>
        <p:spPr>
          <a:xfrm>
            <a:off x="9560052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16" name="Text 113"/>
          <p:cNvSpPr txBox="1"/>
          <p:nvPr/>
        </p:nvSpPr>
        <p:spPr>
          <a:xfrm>
            <a:off x="9514332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C02</a:t>
            </a:r>
            <a:endParaRPr lang="en-US" sz="700" dirty="0"/>
          </a:p>
        </p:txBody>
      </p:sp>
      <p:sp>
        <p:nvSpPr>
          <p:cNvPr id="117" name="Shape 114"/>
          <p:cNvSpPr/>
          <p:nvPr/>
        </p:nvSpPr>
        <p:spPr>
          <a:xfrm>
            <a:off x="9260015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9214295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C03</a:t>
            </a:r>
            <a:endParaRPr lang="en-US" sz="700" dirty="0"/>
          </a:p>
        </p:txBody>
      </p:sp>
      <p:sp>
        <p:nvSpPr>
          <p:cNvPr id="119" name="Shape 116"/>
          <p:cNvSpPr/>
          <p:nvPr/>
        </p:nvSpPr>
        <p:spPr>
          <a:xfrm>
            <a:off x="9945815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20" name="Text 117"/>
          <p:cNvSpPr txBox="1"/>
          <p:nvPr/>
        </p:nvSpPr>
        <p:spPr>
          <a:xfrm>
            <a:off x="9900095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D01</a:t>
            </a:r>
            <a:endParaRPr lang="en-US" sz="700" dirty="0"/>
          </a:p>
        </p:txBody>
      </p:sp>
      <p:sp>
        <p:nvSpPr>
          <p:cNvPr id="121" name="Shape 118"/>
          <p:cNvSpPr/>
          <p:nvPr/>
        </p:nvSpPr>
        <p:spPr>
          <a:xfrm>
            <a:off x="9945815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9900095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D02</a:t>
            </a:r>
            <a:endParaRPr lang="en-US" sz="700" dirty="0"/>
          </a:p>
        </p:txBody>
      </p:sp>
      <p:sp>
        <p:nvSpPr>
          <p:cNvPr id="123" name="Shape 120"/>
          <p:cNvSpPr/>
          <p:nvPr/>
        </p:nvSpPr>
        <p:spPr>
          <a:xfrm>
            <a:off x="10524458" y="5308641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24" name="Text 121"/>
          <p:cNvSpPr txBox="1"/>
          <p:nvPr/>
        </p:nvSpPr>
        <p:spPr>
          <a:xfrm>
            <a:off x="10478738" y="5308641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E02</a:t>
            </a:r>
            <a:endParaRPr lang="en-US" sz="700" dirty="0"/>
          </a:p>
        </p:txBody>
      </p:sp>
      <p:sp>
        <p:nvSpPr>
          <p:cNvPr id="125" name="Shape 122"/>
          <p:cNvSpPr/>
          <p:nvPr/>
        </p:nvSpPr>
        <p:spPr>
          <a:xfrm>
            <a:off x="10953083" y="5308641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26" name="Text 123"/>
          <p:cNvSpPr txBox="1"/>
          <p:nvPr/>
        </p:nvSpPr>
        <p:spPr>
          <a:xfrm>
            <a:off x="10907363" y="5308641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E01</a:t>
            </a:r>
            <a:endParaRPr lang="en-US" sz="700" dirty="0"/>
          </a:p>
        </p:txBody>
      </p:sp>
      <p:sp>
        <p:nvSpPr>
          <p:cNvPr id="127" name="Text 124"/>
          <p:cNvSpPr txBox="1"/>
          <p:nvPr/>
        </p:nvSpPr>
        <p:spPr>
          <a:xfrm>
            <a:off x="758952" y="61081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演示数据：tools/center_demo.py，一栋三层楼、13 台模拟终端；E01 为「摘防护吃苹果」场景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一套后台，分层管理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58952" y="1600200"/>
            <a:ext cx="26974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58952" y="17647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账号与授权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2240280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管理员管理整栋楼；教师只能查看和管理被授权的楼栋、房间或实验桌。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730752" y="1600200"/>
            <a:ext cx="26974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730752" y="17647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阈值方案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730752" y="2240280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按区域下发规则阈值；终端再按本机控制盒硬上限校验，超限项不生效并回报原因。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58952" y="3749040"/>
            <a:ext cx="26974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" y="391363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语音包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58952" y="4389120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每类提示配温和、严厉两种语气；可用 TTS 生成，也可上传教师本人录音（需本人同意）。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730752" y="3749040"/>
            <a:ext cx="26974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730752" y="391363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复核与审计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730752" y="4389120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教师在终端标注报警是否正确，总后台汇总现场准确率；所有操作写入审计记录。</a:t>
            </a:r>
            <a:endParaRPr lang="en-US" sz="1500" dirty="0"/>
          </a:p>
        </p:txBody>
      </p:sp>
      <p:pic>
        <p:nvPicPr>
          <p:cNvPr id="16" name="Image 0" descr="总后台总览页：处置队列与按楼层排布的实验桌平面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600200"/>
            <a:ext cx="4343400" cy="301625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086600" y="470789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总后台总览页截图（演示数据）</a:t>
            </a:r>
            <a:endParaRPr lang="en-US" sz="1200" dirty="0"/>
          </a:p>
        </p:txBody>
      </p:sp>
      <p:sp>
        <p:nvSpPr>
          <p:cNvPr id="18" name="信号灯"/>
          <p:cNvSpPr/>
          <p:nvPr/>
        </p:nvSpPr>
        <p:spPr>
          <a:xfrm>
            <a:off x="11033760" y="5928360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系统组成：三个独立程序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58952" y="1554480"/>
            <a:ext cx="2468880" cy="3611880"/>
          </a:xfrm>
          <a:prstGeom prst="roundRect">
            <a:avLst>
              <a:gd name="adj" fmla="val 5926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控制盒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057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ESP32-S3 · Arduino 固件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14400" y="2377440"/>
            <a:ext cx="2157984" cy="777240"/>
          </a:xfrm>
          <a:prstGeom prst="roundRect">
            <a:avLst>
              <a:gd name="adj" fmla="val 8235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377440"/>
            <a:ext cx="1975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SHT30 温湿度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MLX90614 红外测温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MQ-2 烟雾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14400" y="3246120"/>
            <a:ext cx="2157984" cy="594360"/>
          </a:xfrm>
          <a:prstGeom prst="roundRect">
            <a:avLst>
              <a:gd name="adj" fmla="val 1076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3246120"/>
            <a:ext cx="1975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继电器（加热电源）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控制键、信号灯、蜂鸣器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14400" y="3931920"/>
            <a:ext cx="2157984" cy="548640"/>
          </a:xfrm>
          <a:prstGeom prst="roundRect">
            <a:avLst>
              <a:gd name="adj" fmla="val 11667"/>
            </a:avLst>
          </a:prstGeom>
          <a:solidFill>
            <a:schemeClr val="tx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05840" y="393192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本地硬规则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150℃ / 2500 / 心跳 30 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15968" y="1554480"/>
            <a:ext cx="4206240" cy="361188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8056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实验台终端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0574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RK3588 · Python · run_app.py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480560" y="2377440"/>
            <a:ext cx="1892808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0" y="2377440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识别线程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dual_inference.py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64808" y="2377440"/>
            <a:ext cx="1892808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56248" y="2377440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传感器线程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sensor_worker.py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480560" y="2971800"/>
            <a:ext cx="3877056" cy="566928"/>
          </a:xfrm>
          <a:prstGeom prst="roundRect">
            <a:avLst>
              <a:gd name="adj" fmla="val 11290"/>
            </a:avLst>
          </a:prstGeom>
          <a:solidFill>
            <a:schemeClr val="tx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0" y="2971800"/>
            <a:ext cx="3694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SafetyEngine：R1–R9 → 交叉验证 → 温度预测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engine.py / state_machine.py / cross_check.py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480560" y="3630168"/>
            <a:ext cx="1892808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72000" y="3630168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事件中心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语音、灯、截图、SQLite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464808" y="3630168"/>
            <a:ext cx="1892808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56248" y="3630168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安全助手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只读工具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480560" y="4206240"/>
            <a:ext cx="1892808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4206240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实验台小屏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kiosk.py（Qt）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464808" y="4206240"/>
            <a:ext cx="1892808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56248" y="4206240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本机控制台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:8180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601200" y="1554480"/>
            <a:ext cx="1828800" cy="3611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738360" y="1691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总后台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738360" y="20574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run_center.py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9738360" y="2377440"/>
            <a:ext cx="1554480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829800" y="23774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FastAPI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:8200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9738360" y="297180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29800" y="29718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SQLite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账号、区域、指令、审计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9738360" y="3749040"/>
            <a:ext cx="1554480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829800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原生 JS 前端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无构建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3300984" y="3108960"/>
            <a:ext cx="941832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40" name="Text 37"/>
          <p:cNvSpPr txBox="1"/>
          <p:nvPr/>
        </p:nvSpPr>
        <p:spPr>
          <a:xfrm>
            <a:off x="3227832" y="274320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USB 串口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3182112" y="320040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 55 帧</a:t>
            </a:r>
            <a:endParaRPr lang="en-US" sz="9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CRC16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595360" y="3108960"/>
            <a:ext cx="932688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43" name="Text 40"/>
          <p:cNvSpPr txBox="1"/>
          <p:nvPr/>
        </p:nvSpPr>
        <p:spPr>
          <a:xfrm>
            <a:off x="8522208" y="274320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476488" y="320040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上报快照</a:t>
            </a:r>
            <a:endParaRPr lang="en-US" sz="9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取回阈值、指令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758952" y="5440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安全判断不依赖任何界面：小屏、本机控制台和总后台都只读取 SafetyEngine.snapshot()。</a:t>
            </a:r>
            <a:endParaRPr lang="en-US" sz="1300" dirty="0"/>
          </a:p>
        </p:txBody>
      </p:sp>
      <p:sp>
        <p:nvSpPr>
          <p:cNvPr id="46" name="信号灯"/>
          <p:cNvSpPr/>
          <p:nvPr/>
        </p:nvSpPr>
        <p:spPr>
          <a:xfrm>
            <a:off x="7503160" y="1788160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程序卡死也能断电：心跳由安全判断驱动</a:t>
            </a:r>
            <a:endParaRPr lang="en-US" sz="3200" dirty="0"/>
          </a:p>
        </p:txBody>
      </p:sp>
      <p:sp>
        <p:nvSpPr>
          <p:cNvPr id="4" name="代码块"/>
          <p:cNvSpPr/>
          <p:nvPr/>
        </p:nvSpPr>
        <p:spPr>
          <a:xfrm>
            <a:off x="758952" y="1389888"/>
            <a:ext cx="5623560" cy="2868295"/>
          </a:xfrm>
          <a:prstGeom prst="roundRect">
            <a:avLst>
              <a:gd name="adj" fmla="val 4463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41832" y="148132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R3 加热中无人值守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src/core/state_machine.py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782312" y="14813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L250–260 节选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41832" y="1847088"/>
            <a:ext cx="5257800" cy="2319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cut_s = rules("unattended_heating_cut_s", 60.0)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heating and macro_unattended: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self._unattended_heat_since is None: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self._unattended_heat_since = now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dur = now - self._unattended_heat_since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dur &gt;= cut_s: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add("unattended_heating", "CRITICAL",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"加热中无人值守超时", ..., cut=True)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add("unattended_heating", "WARNING",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"加热中无人值守", ...)</a:t>
            </a:r>
            <a:endParaRPr lang="en-US" sz="1100" dirty="0"/>
          </a:p>
        </p:txBody>
      </p:sp>
      <p:sp>
        <p:nvSpPr>
          <p:cNvPr id="8" name="代码块"/>
          <p:cNvSpPr/>
          <p:nvPr/>
        </p:nvSpPr>
        <p:spPr>
          <a:xfrm>
            <a:off x="6583680" y="1389888"/>
            <a:ext cx="4846320" cy="2868295"/>
          </a:xfrm>
          <a:prstGeom prst="roundRect">
            <a:avLst>
              <a:gd name="adj" fmla="val 4463"/>
            </a:avLst>
          </a:prstGeom>
          <a:solidFill>
            <a:schemeClr val="accent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只有判断跑完才喂心跳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serial_comm.py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829800" y="14813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L375–381 节选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1847088"/>
            <a:ext cx="4480560" cy="2319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feed(self):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self._last_feed = time.time()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@property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engine_alive(self) -&gt; bool: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time.time() - self._last_feed \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 self.engine_stale_s        # 5 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发送线程（L421）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self.engine_alive and (...):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发出 HEARTBEAT</a:t>
            </a:r>
            <a:endParaRPr lang="en-US" sz="1100" dirty="0"/>
          </a:p>
        </p:txBody>
      </p:sp>
      <p:sp>
        <p:nvSpPr>
          <p:cNvPr id="12" name="代码块"/>
          <p:cNvSpPr/>
          <p:nvPr/>
        </p:nvSpPr>
        <p:spPr>
          <a:xfrm>
            <a:off x="758952" y="4526280"/>
            <a:ext cx="10671048" cy="1450340"/>
          </a:xfrm>
          <a:prstGeom prst="roundRect">
            <a:avLst>
              <a:gd name="adj" fmla="val 8827"/>
            </a:avLst>
          </a:prstGeom>
          <a:solidFill>
            <a:schemeClr val="accent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41832" y="4617720"/>
            <a:ext cx="8933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控制盒：心跳中断 30 s 且仍在加热，本地断电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firmware/lab_guard_esp32/lab_guard_esp32.ino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829800" y="46177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L254–257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41832" y="4983480"/>
            <a:ext cx="10305288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(mlxOk &amp;&amp; !isnan(objC) &amp;&amp; objC &gt;= HARD_LIMIT_C) cutPower(CUT_OVERTEMP, EV_LOCAL_OVERTEMP);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(smokeReady() &amp;&amp; smokeRaw &gt;= SMOKE_LIMIT_RAW)   cutPower(CUT_SMOKE, EV_LOCAL_SMOKE);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hot = !mlxOk || isnan(objC) || objC &gt; WATCHDOG_HOT_C;   // 测不到温度时按"可能很热"保守处理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(relayOn &amp;&amp; millis() - lastHb &gt; WATCHDOG_CUT_MS &amp;&amp; hot) cutPower(CUT_WATCHDOG, EV_WATCHDOG);</a:t>
            </a:r>
            <a:endParaRPr lang="en-US" sz="1100" dirty="0"/>
          </a:p>
        </p:txBody>
      </p:sp>
      <p:sp>
        <p:nvSpPr>
          <p:cNvPr id="16" name="信号灯"/>
          <p:cNvSpPr/>
          <p:nvPr/>
        </p:nvSpPr>
        <p:spPr>
          <a:xfrm>
            <a:off x="924560" y="4493260"/>
            <a:ext cx="182880" cy="18288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03A3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串口协议：定长帧头 + CRC16 + ACK 重发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58952" y="1280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示例：POWER_OFF 指令，原因码 4（执行上位机断电），115200 波特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58952" y="1664208"/>
            <a:ext cx="886968" cy="758952"/>
          </a:xfrm>
          <a:prstGeom prst="roundRect">
            <a:avLst>
              <a:gd name="adj" fmla="val 9639"/>
            </a:avLst>
          </a:prstGeom>
          <a:solidFill>
            <a:srgbClr val="F4F6FB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58952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帧头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721815" y="1664208"/>
            <a:ext cx="886968" cy="758952"/>
          </a:xfrm>
          <a:prstGeom prst="roundRect">
            <a:avLst>
              <a:gd name="adj" fmla="val 9639"/>
            </a:avLst>
          </a:prstGeom>
          <a:solidFill>
            <a:srgbClr val="F4F6FB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721815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721815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帧头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84678" y="1664208"/>
            <a:ext cx="886968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84678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2684678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LEN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647542" y="1664208"/>
            <a:ext cx="886968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47542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2A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3647542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SEQ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10405" y="1664208"/>
            <a:ext cx="886968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10405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4610405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CMD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73268" y="1664208"/>
            <a:ext cx="139903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73268" y="1700784"/>
            <a:ext cx="1399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5573268" y="2103120"/>
            <a:ext cx="1399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PAYLOAD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048195" y="1664208"/>
            <a:ext cx="886968" cy="758952"/>
          </a:xfrm>
          <a:prstGeom prst="roundRect">
            <a:avLst>
              <a:gd name="adj" fmla="val 9639"/>
            </a:avLst>
          </a:prstGeom>
          <a:solidFill>
            <a:srgbClr val="EBEDF7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048195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7048195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CRC 低字节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011058" y="1664208"/>
            <a:ext cx="886968" cy="758952"/>
          </a:xfrm>
          <a:prstGeom prst="roundRect">
            <a:avLst>
              <a:gd name="adj" fmla="val 9639"/>
            </a:avLst>
          </a:prstGeom>
          <a:solidFill>
            <a:srgbClr val="EBEDF7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11058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8011058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CRC 高字节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684678" y="2542032"/>
            <a:ext cx="4287622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84678" y="2606040"/>
            <a:ext cx="42876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CRC16-CCITT 覆盖范围</a:t>
            </a:r>
            <a:endParaRPr lang="en-US" sz="1200" dirty="0"/>
          </a:p>
        </p:txBody>
      </p:sp>
      <p:sp>
        <p:nvSpPr>
          <p:cNvPr id="31" name="信号灯"/>
          <p:cNvSpPr/>
          <p:nvPr/>
        </p:nvSpPr>
        <p:spPr>
          <a:xfrm>
            <a:off x="5229860" y="1572260"/>
            <a:ext cx="182880" cy="18288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03A32">
                <a:alpha val="55000"/>
              </a:srgbClr>
            </a:outerShdw>
          </a:effectLst>
        </p:spPr>
      </p:sp>
      <p:sp>
        <p:nvSpPr>
          <p:cNvPr id="32" name="代码块"/>
          <p:cNvSpPr/>
          <p:nvPr/>
        </p:nvSpPr>
        <p:spPr>
          <a:xfrm>
            <a:off x="758952" y="3063240"/>
            <a:ext cx="5715000" cy="3034030"/>
          </a:xfrm>
          <a:prstGeom prst="roundRect">
            <a:avLst>
              <a:gd name="adj" fmla="val 4219"/>
            </a:avLst>
          </a:prstGeom>
          <a:solidFill>
            <a:schemeClr val="accent5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41832" y="31546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帧构造与校验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LabSafetyMonitor/serial_comm.py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873752" y="31546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L105–118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941832" y="3520440"/>
            <a:ext cx="5349240" cy="248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crc16_ccitt(data: bytes, crc: int = 0xFFFF) -&gt; int: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b in data: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crc ^= b &lt;&lt; 8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_ in range(8):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crc &amp; 0x8000: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crc = ((crc &lt;&lt; 1) ^ 0x1021) &amp; 0xFFFF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crc = (crc &lt;&lt; 1) &amp; 0xFFFF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crc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build_frame(seq: int, cmd: int, payload: bytes = b"") -&gt; bytes: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body = bytes([len(payload), seq &amp; 0xFF, cmd]) + payload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HEADER + body + struct.pack("&lt;H", crc16_ccitt(body))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6812280" y="306324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ACK 超时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8046720" y="30632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ACK_TIMEOUT_S = 0.25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6812280" y="3502152"/>
            <a:ext cx="461772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12280" y="3502152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最多发送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046720" y="350215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ACK_MAX_TRIES = 3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6812280" y="3941064"/>
            <a:ext cx="461772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12280" y="3941064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结果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8046720" y="39410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power_off_state 记录是否被确认</a:t>
            </a:r>
            <a:endParaRPr lang="en-US" sz="1500" dirty="0"/>
          </a:p>
        </p:txBody>
      </p:sp>
      <p:sp>
        <p:nvSpPr>
          <p:cNvPr id="44" name="Shape 41"/>
          <p:cNvSpPr/>
          <p:nvPr/>
        </p:nvSpPr>
        <p:spPr>
          <a:xfrm>
            <a:off x="6812280" y="4379976"/>
            <a:ext cx="461772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812280" y="4379976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一致性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437997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固件与 tests/fake_mcu.py 用同一协议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812280" y="493776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接收端按帧头重新同步，半个包头会保留到下一次读取；CRC 错误计数可在控制台查看。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分层上报的实现：同一份打分，三次过滤</a:t>
            </a:r>
            <a:endParaRPr lang="en-US" sz="3200" dirty="0"/>
          </a:p>
        </p:txBody>
      </p:sp>
      <p:sp>
        <p:nvSpPr>
          <p:cNvPr id="4" name="代码块"/>
          <p:cNvSpPr/>
          <p:nvPr/>
        </p:nvSpPr>
        <p:spPr>
          <a:xfrm>
            <a:off x="758952" y="1463040"/>
            <a:ext cx="6812280" cy="3954780"/>
          </a:xfrm>
          <a:prstGeom prst="roundRect">
            <a:avLst>
              <a:gd name="adj" fmla="val 3237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41832" y="15544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tiers()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src/core/cross_check.py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971032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L166–191 节选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41832" y="1920240"/>
            <a:ext cx="64465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---- 实验室老师 ----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reasons = [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{"text": f["text"], "points": f["points"]} for f in r["factors"]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f["source"] not in BEHAVIOR_SOURCES and f["source"] != "规则引擎"]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latched: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reasons.append({"text": "已断电锁定，需到场排查", "points": 100})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"CRITICAL" in hz: ...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"WARNING" in hz: ...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d.get("called"):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reasons.append({"text": "学生在终端上呼叫教师", "points": 40})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t_level = _level(t_score, mid_score, high_score)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 = [f["text"] for f in r["factors"] if f["source"] in BEHAVIOR_SOURCES]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---- 实验楼 ----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latched or "CRITICAL" in hz: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b_level = "high"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t_level == "high":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b_level = "mid"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46304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学生端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146304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全部因子，即 risk.level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0" y="1901952"/>
            <a:ext cx="365760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0" y="190195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实验室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190195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去掉行为因子；hz 只含安全规则事件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772400" y="2340864"/>
            <a:ext cx="365760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0" y="2340864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实验楼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78240" y="234086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只看断电锁定与紧急事件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301752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三层等级随快照字段 risk.tiers 上报；总后台按账号角色选默认视角，旧版终端没有该字段时有兜底。分层只影响上报，不参与断电。</a:t>
            </a:r>
            <a:endParaRPr lang="en-US" sz="1500" dirty="0"/>
          </a:p>
        </p:txBody>
      </p:sp>
      <p:sp>
        <p:nvSpPr>
          <p:cNvPr id="17" name="信号灯"/>
          <p:cNvSpPr/>
          <p:nvPr/>
        </p:nvSpPr>
        <p:spPr>
          <a:xfrm>
            <a:off x="7274560" y="1432560"/>
            <a:ext cx="182880" cy="18288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C9808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设计约束写进自动测试</a:t>
            </a:r>
            <a:endParaRPr lang="en-US" sz="3200" dirty="0"/>
          </a:p>
        </p:txBody>
      </p:sp>
      <p:sp>
        <p:nvSpPr>
          <p:cNvPr id="4" name="代码块"/>
          <p:cNvSpPr/>
          <p:nvPr/>
        </p:nvSpPr>
        <p:spPr>
          <a:xfrm>
            <a:off x="758952" y="1463040"/>
            <a:ext cx="6400800" cy="2297430"/>
          </a:xfrm>
          <a:prstGeom prst="roundRect">
            <a:avLst>
              <a:gd name="adj" fmla="val 5572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41832" y="15544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只断不通、大模型不碰电闸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tests/test_platform.py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559552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L173, L231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41832" y="1920240"/>
            <a:ext cx="6035040" cy="174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{t["function"]["name"] for t in TOOLS}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check(not any(k in n for n in names for k in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("power", "relay", "reset", "unlock", "cut")),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"Agent 工具表中没有任何电源 / 继电器 / 解锁类工具")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 = {getattr(rt, "path", "") for rt in client.app.routes}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check(not any(k in p for p in routes for k in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("power/on", "power/restore", "unlock", "reset", "release")),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"不存在任何上电 / 解锁接口")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589520" y="1463040"/>
            <a:ext cx="118872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0" y="1600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21945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test_backend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安全核心、协议、控制键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887968" y="1463040"/>
            <a:ext cx="118872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887968" y="1600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887968" y="21945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test_platform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控制台、助手、约束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186416" y="1463040"/>
            <a:ext cx="118872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186416" y="1600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81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10186416" y="21945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test_center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总后台、接入、分层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58952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测试用 tests/fake_mcu.py 模拟控制盒，数据库建在临时目录，不需要摄像头、控制盒和大模型。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4297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用例数为仓库文档记录；答辩前请在比赛电脑上重跑一遍。</a:t>
            </a:r>
            <a:endParaRPr lang="en-US" sz="1200" dirty="0"/>
          </a:p>
        </p:txBody>
      </p:sp>
      <p:sp>
        <p:nvSpPr>
          <p:cNvPr id="19" name="信号灯"/>
          <p:cNvSpPr/>
          <p:nvPr/>
        </p:nvSpPr>
        <p:spPr>
          <a:xfrm>
            <a:off x="7274560" y="1432560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实物运行</a:t>
            </a:r>
            <a:endParaRPr lang="en-US" sz="3200" dirty="0"/>
          </a:p>
        </p:txBody>
      </p:sp>
      <p:pic>
        <p:nvPicPr>
          <p:cNvPr id="4" name="照片 1：实验台终端整机运行" descr="照片 1：实验台终端整机运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527048"/>
            <a:ext cx="5330952" cy="4480560"/>
          </a:xfrm>
          <a:prstGeom prst="rect">
            <a:avLst/>
          </a:prstGeom>
        </p:spPr>
      </p:pic>
      <p:pic>
        <p:nvPicPr>
          <p:cNvPr id="5" name="照片 2：控制盒与传感器接线" descr="照片 2：控制盒与传感器接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27048"/>
            <a:ext cx="5029200" cy="2148840"/>
          </a:xfrm>
          <a:prstGeom prst="rect">
            <a:avLst/>
          </a:prstGeom>
        </p:spPr>
      </p:pic>
      <p:pic>
        <p:nvPicPr>
          <p:cNvPr id="6" name="照片 3：小屏提醒或总后台联调" descr="照片 3：小屏提醒或总后台联调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858768"/>
            <a:ext cx="5029200" cy="2148840"/>
          </a:xfrm>
          <a:prstGeom prst="rect">
            <a:avLst/>
          </a:prstGeom>
        </p:spPr>
      </p:pic>
      <p:sp>
        <p:nvSpPr>
          <p:cNvPr id="7" name="信号灯"/>
          <p:cNvSpPr/>
          <p:nvPr/>
        </p:nvSpPr>
        <p:spPr>
          <a:xfrm>
            <a:off x="924560" y="1432560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120640" y="2148840"/>
            <a:ext cx="1947672" cy="1188720"/>
          </a:xfrm>
          <a:prstGeom prst="roundRect">
            <a:avLst>
              <a:gd name="adj" fmla="val 15385"/>
            </a:avLst>
          </a:prstGeom>
          <a:solidFill>
            <a:srgbClr val="F7F8FC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228600" dist="76200" dir="5400000">
              <a:srgbClr val="262E6E">
                <a:alpha val="2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5833872" y="2487168"/>
            <a:ext cx="530352" cy="530352"/>
          </a:xfrm>
          <a:prstGeom prst="roundRect">
            <a:avLst>
              <a:gd name="adj" fmla="val 13793"/>
            </a:avLst>
          </a:prstGeom>
          <a:solidFill>
            <a:schemeClr val="tx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742432" y="2487168"/>
            <a:ext cx="713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BD1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RK3588</a:t>
            </a:r>
            <a:endParaRPr lang="en-US" sz="800" dirty="0"/>
          </a:p>
        </p:txBody>
      </p:sp>
      <p:sp>
        <p:nvSpPr>
          <p:cNvPr id="6" name="信号灯"/>
          <p:cNvSpPr/>
          <p:nvPr/>
        </p:nvSpPr>
        <p:spPr>
          <a:xfrm>
            <a:off x="6877304" y="2451354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397000" y="9525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561592" y="10622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双摄识别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561592" y="14097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YOLO11n，人员 12 类，器皿 14 类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53000" y="6985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117592" y="8082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交叉验证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117592" y="11557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多源规则打分，分低、中、高三级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509000" y="9525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673592" y="10622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三层分级上报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673592" y="14097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学生端、实验室老师、实验楼各自定级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017000" y="26670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9181592" y="27767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语音提示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181592" y="31242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温和与严厉两种语气，可用教师本人录音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509000" y="43815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673592" y="44912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总后台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673592" y="48387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平面图、处置队列、阈值方案、授权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953000" y="44450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5117592" y="45547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控制盒断电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117592" y="49022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固件硬规则与心跳看门狗，只断不通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397000" y="43815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561592" y="44912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安全助手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1561592" y="48387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只读工具，引用手册条款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89000" y="26670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1053592" y="27767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温度预测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1053592" y="31242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一阶热平衡拟合；越过沸点才给干烧倒计时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914400" y="553720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防患于未然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914400" y="6085840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基于双摄协同的实验室安全事前干预监测系统</a:t>
            </a:r>
            <a:endParaRPr lang="en-US" sz="1300" dirty="0"/>
          </a:p>
        </p:txBody>
      </p:sp>
      <p:sp>
        <p:nvSpPr>
          <p:cNvPr id="33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Guard">
  <a:themeElements>
    <a:clrScheme name="LabGuard">
      <a:dk1>
        <a:srgbClr val="1A1F3D"/>
      </a:dk1>
      <a:lt1>
        <a:srgbClr val="FFFFFF"/>
      </a:lt1>
      <a:dk2>
        <a:srgbClr val="4E5577"/>
      </a:dk2>
      <a:lt2>
        <a:srgbClr val="F1F3F8"/>
      </a:lt2>
      <a:accent1>
        <a:srgbClr val="16A362"/>
      </a:accent1>
      <a:accent2>
        <a:srgbClr val="EC9808"/>
      </a:accent2>
      <a:accent3>
        <a:srgbClr val="E03A32"/>
      </a:accent3>
      <a:accent4>
        <a:srgbClr val="5C6BC0"/>
      </a:accent4>
      <a:accent5>
        <a:srgbClr val="171B33"/>
      </a:accent5>
      <a:accent6>
        <a:srgbClr val="7F86A3"/>
      </a:accent6>
      <a:hlink>
        <a:srgbClr val="5C6BC0"/>
      </a:hlink>
      <a:folHlink>
        <a:srgbClr val="4E5577"/>
      </a:folHlink>
    </a:clrScheme>
    <a:fontScheme name="LabGuard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基于双摄协同的实验室安全事前干预监测系统</dc:title>
  <dc:subject>PptxGenJS Presentation</dc:subject>
  <dc:creator>湖南涉外经济学院 3 队</dc:creator>
  <cp:lastModifiedBy>湖南涉外经济学院 3 队</cp:lastModifiedBy>
  <cp:revision>1</cp:revision>
  <dcterms:created xsi:type="dcterms:W3CDTF">2026-10-24T02:06:27Z</dcterms:created>
  <dcterms:modified xsi:type="dcterms:W3CDTF">2026-10-24T02:06:27Z</dcterms:modified>
</cp:coreProperties>
</file>